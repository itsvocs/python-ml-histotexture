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Avenir Next Regular"/>
        <a:ea typeface="Avenir Next Regular"/>
        <a:cs typeface="Avenir Next Regular"/>
        <a:sym typeface="Avenir Next Regular"/>
      </a:defRPr>
    </a:lvl1pPr>
    <a:lvl2pPr marL="0" marR="0" indent="457200" algn="l" defTabSz="2438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Avenir Next Regular"/>
        <a:ea typeface="Avenir Next Regular"/>
        <a:cs typeface="Avenir Next Regular"/>
        <a:sym typeface="Avenir Next Regular"/>
      </a:defRPr>
    </a:lvl2pPr>
    <a:lvl3pPr marL="0" marR="0" indent="914400" algn="l" defTabSz="2438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Avenir Next Regular"/>
        <a:ea typeface="Avenir Next Regular"/>
        <a:cs typeface="Avenir Next Regular"/>
        <a:sym typeface="Avenir Next Regular"/>
      </a:defRPr>
    </a:lvl3pPr>
    <a:lvl4pPr marL="0" marR="0" indent="1371600" algn="l" defTabSz="2438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Avenir Next Regular"/>
        <a:ea typeface="Avenir Next Regular"/>
        <a:cs typeface="Avenir Next Regular"/>
        <a:sym typeface="Avenir Next Regular"/>
      </a:defRPr>
    </a:lvl4pPr>
    <a:lvl5pPr marL="0" marR="0" indent="1828800" algn="l" defTabSz="2438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Avenir Next Regular"/>
        <a:ea typeface="Avenir Next Regular"/>
        <a:cs typeface="Avenir Next Regular"/>
        <a:sym typeface="Avenir Next Regular"/>
      </a:defRPr>
    </a:lvl5pPr>
    <a:lvl6pPr marL="0" marR="0" indent="2286000" algn="l" defTabSz="2438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Avenir Next Regular"/>
        <a:ea typeface="Avenir Next Regular"/>
        <a:cs typeface="Avenir Next Regular"/>
        <a:sym typeface="Avenir Next Regular"/>
      </a:defRPr>
    </a:lvl6pPr>
    <a:lvl7pPr marL="0" marR="0" indent="2743200" algn="l" defTabSz="2438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Avenir Next Regular"/>
        <a:ea typeface="Avenir Next Regular"/>
        <a:cs typeface="Avenir Next Regular"/>
        <a:sym typeface="Avenir Next Regular"/>
      </a:defRPr>
    </a:lvl7pPr>
    <a:lvl8pPr marL="0" marR="0" indent="3200400" algn="l" defTabSz="2438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Avenir Next Regular"/>
        <a:ea typeface="Avenir Next Regular"/>
        <a:cs typeface="Avenir Next Regular"/>
        <a:sym typeface="Avenir Next Regular"/>
      </a:defRPr>
    </a:lvl8pPr>
    <a:lvl9pPr marL="0" marR="0" indent="3657600" algn="l" defTabSz="2438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Avenir Next Regular"/>
        <a:ea typeface="Avenir Next Regular"/>
        <a:cs typeface="Avenir Next Regular"/>
        <a:sym typeface="Avenir Next Regular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A9A9A9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solidFill>
                <a:srgbClr val="C8C8C8"/>
              </a:solidFill>
              <a:prstDash val="solid"/>
              <a:miter lim="400000"/>
            </a:ln>
          </a:top>
          <a:bottom>
            <a:ln w="12700" cap="flat">
              <a:solidFill>
                <a:srgbClr val="C8C8C8"/>
              </a:solidFill>
              <a:prstDash val="solid"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A9A9A9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254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rgbClr val="00A1FF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381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solidFill>
            <a:srgbClr val="014D80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solidFill>
                <a:srgbClr val="C8C8C8"/>
              </a:solidFill>
              <a:prstDash val="solid"/>
              <a:miter lim="400000"/>
            </a:ln>
          </a:top>
          <a:bottom>
            <a:ln w="12700" cap="flat">
              <a:solidFill>
                <a:srgbClr val="C8C8C8"/>
              </a:solidFill>
              <a:prstDash val="solid"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A9A9A9"/>
          </a:solidFill>
        </a:fill>
      </a:tcStyle>
    </a:band2H>
    <a:firstCol>
      <a:tcTxStyle b="off" i="off">
        <a:font>
          <a:latin typeface="Avenir Next Medium"/>
          <a:ea typeface="Avenir Next Medium"/>
          <a:cs typeface="Avenir Next Medium"/>
        </a:font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13B100"/>
          </a:solidFill>
        </a:fill>
      </a:tcStyle>
    </a:firstCol>
    <a:lastRow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rgbClr val="61D836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Avenir Next Medium"/>
          <a:ea typeface="Avenir Next Medium"/>
          <a:cs typeface="Avenir Next Medium"/>
        </a:font>
        <a:srgbClr val="FFFFFF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381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552055"/>
              <a:lumOff val="-12548"/>
            </a:schemeClr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solidFill>
                <a:srgbClr val="C8C8C8"/>
              </a:solidFill>
              <a:prstDash val="solid"/>
              <a:miter lim="400000"/>
            </a:ln>
          </a:top>
          <a:bottom>
            <a:ln w="12700" cap="flat">
              <a:solidFill>
                <a:srgbClr val="C8C8C8"/>
              </a:solidFill>
              <a:prstDash val="solid"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A9A9A9"/>
          </a:solidFill>
        </a:fill>
      </a:tcStyle>
    </a:band2H>
    <a:firstCol>
      <a:tcTxStyle b="off" i="off">
        <a:font>
          <a:latin typeface="Avenir Next Medium"/>
          <a:ea typeface="Avenir Next Medium"/>
          <a:cs typeface="Avenir Next Medium"/>
        </a:font>
        <a:srgbClr val="000000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-613784"/>
              <a:lumOff val="1275"/>
            </a:scheme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4">
                  <a:hueOff val="-613784"/>
                  <a:lumOff val="1275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Avenir Next Medium"/>
          <a:ea typeface="Avenir Next Medium"/>
          <a:cs typeface="Avenir Next Medium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381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FF530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solidFill>
                <a:srgbClr val="C8C8C8"/>
              </a:solidFill>
              <a:prstDash val="solid"/>
              <a:miter lim="400000"/>
            </a:ln>
          </a:top>
          <a:bottom>
            <a:ln w="12700" cap="flat">
              <a:solidFill>
                <a:srgbClr val="C8C8C8"/>
              </a:solidFill>
              <a:prstDash val="solid"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A9A9A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C0C0C0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solidFill>
            <a:srgbClr val="98195F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6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C0C0C0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381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solidFill>
            <a:srgbClr val="650E48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solidFill>
                <a:srgbClr val="C8C8C8"/>
              </a:solidFill>
              <a:prstDash val="solid"/>
              <a:miter lim="400000"/>
            </a:ln>
          </a:top>
          <a:bottom>
            <a:ln w="12700" cap="flat">
              <a:solidFill>
                <a:srgbClr val="C8C8C8"/>
              </a:solidFill>
              <a:prstDash val="solid"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A9A9A9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381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381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64646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Shape 19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7" name="Shape 19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0" showMasterPhAnim="1">
  <p:cSld name="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 der Präsentation"/>
          <p:cNvSpPr txBox="1"/>
          <p:nvPr>
            <p:ph type="title" hasCustomPrompt="1"/>
          </p:nvPr>
        </p:nvSpPr>
        <p:spPr>
          <a:xfrm>
            <a:off x="1270000" y="3289300"/>
            <a:ext cx="21844000" cy="3879454"/>
          </a:xfrm>
          <a:prstGeom prst="rect">
            <a:avLst/>
          </a:prstGeom>
        </p:spPr>
        <p:txBody>
          <a:bodyPr/>
          <a:lstStyle>
            <a:lvl1pPr defTabSz="2438338">
              <a:lnSpc>
                <a:spcPct val="90000"/>
              </a:lnSpc>
              <a:defRPr spc="-348" sz="11600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</a:defRPr>
            </a:lvl1pPr>
          </a:lstStyle>
          <a:p>
            <a:pPr/>
            <a:r>
              <a:t>Titel der Präsentation</a:t>
            </a:r>
          </a:p>
        </p:txBody>
      </p:sp>
      <p:sp>
        <p:nvSpPr>
          <p:cNvPr id="14" name="Vocs Pouani                                                                                                       Einführung und Vertiefung in Phython"/>
          <p:cNvSpPr txBox="1"/>
          <p:nvPr>
            <p:ph type="body" sz="quarter" idx="21" hasCustomPrompt="1"/>
          </p:nvPr>
        </p:nvSpPr>
        <p:spPr>
          <a:xfrm>
            <a:off x="751162" y="12992815"/>
            <a:ext cx="23309155" cy="694056"/>
          </a:xfrm>
          <a:prstGeom prst="rect">
            <a:avLst/>
          </a:prstGeom>
        </p:spPr>
        <p:txBody>
          <a:bodyPr/>
          <a:lstStyle>
            <a:lvl1pPr marL="0" indent="0" algn="ctr" defTabSz="808990">
              <a:spcBef>
                <a:spcPts val="0"/>
              </a:spcBef>
              <a:buClrTx/>
              <a:buSzTx/>
              <a:buNone/>
              <a:defRPr sz="3430">
                <a:solidFill>
                  <a:srgbClr val="929292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Autor:in und Datum</a:t>
            </a:r>
          </a:p>
        </p:txBody>
      </p:sp>
      <p:sp>
        <p:nvSpPr>
          <p:cNvPr id="15" name="Textebene 1…"/>
          <p:cNvSpPr txBox="1"/>
          <p:nvPr>
            <p:ph type="body" sz="quarter" idx="1" hasCustomPrompt="1"/>
          </p:nvPr>
        </p:nvSpPr>
        <p:spPr>
          <a:xfrm>
            <a:off x="1270000" y="6985000"/>
            <a:ext cx="21844000" cy="2512352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6400"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  <a:lvl2pPr marL="0" indent="0" algn="ctr" defTabSz="825500">
              <a:spcBef>
                <a:spcPts val="0"/>
              </a:spcBef>
              <a:buClrTx/>
              <a:buSzTx/>
              <a:buNone/>
              <a:defRPr sz="6400">
                <a:latin typeface="Avenir Next Medium"/>
                <a:ea typeface="Avenir Next Medium"/>
                <a:cs typeface="Avenir Next Medium"/>
                <a:sym typeface="Avenir Next Medium"/>
              </a:defRPr>
            </a:lvl2pPr>
            <a:lvl3pPr marL="0" indent="0" algn="ctr" defTabSz="825500">
              <a:spcBef>
                <a:spcPts val="0"/>
              </a:spcBef>
              <a:buClrTx/>
              <a:buSzTx/>
              <a:buNone/>
              <a:defRPr sz="6400">
                <a:latin typeface="Avenir Next Medium"/>
                <a:ea typeface="Avenir Next Medium"/>
                <a:cs typeface="Avenir Next Medium"/>
                <a:sym typeface="Avenir Next Medium"/>
              </a:defRPr>
            </a:lvl3pPr>
            <a:lvl4pPr marL="0" indent="0" algn="ctr" defTabSz="825500">
              <a:spcBef>
                <a:spcPts val="0"/>
              </a:spcBef>
              <a:buClrTx/>
              <a:buSzTx/>
              <a:buNone/>
              <a:defRPr sz="6400">
                <a:latin typeface="Avenir Next Medium"/>
                <a:ea typeface="Avenir Next Medium"/>
                <a:cs typeface="Avenir Next Medium"/>
                <a:sym typeface="Avenir Next Medium"/>
              </a:defRPr>
            </a:lvl4pPr>
            <a:lvl5pPr marL="0" indent="0" algn="ctr" defTabSz="825500">
              <a:spcBef>
                <a:spcPts val="0"/>
              </a:spcBef>
              <a:buClrTx/>
              <a:buSzTx/>
              <a:buNone/>
              <a:defRPr sz="6400">
                <a:latin typeface="Avenir Next Medium"/>
                <a:ea typeface="Avenir Next Medium"/>
                <a:cs typeface="Avenir Next Medium"/>
                <a:sym typeface="Avenir Next Medium"/>
              </a:defRPr>
            </a:lvl5pPr>
          </a:lstStyle>
          <a:p>
            <a:pPr/>
            <a:r>
              <a:t>Präsentationsuntertitel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pic>
        <p:nvPicPr>
          <p:cNvPr id="16" name="Home Grafik.svg" descr="Home Grafik.sv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758" y="72958"/>
            <a:ext cx="5459623" cy="881020"/>
          </a:xfrm>
          <a:prstGeom prst="rect">
            <a:avLst/>
          </a:prstGeom>
          <a:ln w="12700">
            <a:miter lim="400000"/>
          </a:ln>
        </p:spPr>
      </p:pic>
      <p:sp>
        <p:nvSpPr>
          <p:cNvPr id="17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el &amp;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Zwei sich berührende Quallen vor dunkelblauem Hintergrund"/>
          <p:cNvSpPr/>
          <p:nvPr>
            <p:ph type="pic" idx="21"/>
          </p:nvPr>
        </p:nvSpPr>
        <p:spPr>
          <a:xfrm>
            <a:off x="0" y="-1270000"/>
            <a:ext cx="24384000" cy="16256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5" name="Vocs Pouani"/>
          <p:cNvSpPr txBox="1"/>
          <p:nvPr>
            <p:ph type="body" sz="quarter" idx="22" hasCustomPrompt="1"/>
          </p:nvPr>
        </p:nvSpPr>
        <p:spPr>
          <a:xfrm>
            <a:off x="1270000" y="12166600"/>
            <a:ext cx="21844000" cy="694055"/>
          </a:xfrm>
          <a:prstGeom prst="rect">
            <a:avLst/>
          </a:prstGeom>
        </p:spPr>
        <p:txBody>
          <a:bodyPr/>
          <a:lstStyle>
            <a:lvl1pPr marL="0" indent="0" algn="ctr" defTabSz="808990">
              <a:spcBef>
                <a:spcPts val="0"/>
              </a:spcBef>
              <a:buClrTx/>
              <a:buSzTx/>
              <a:buNone/>
              <a:defRPr sz="3430">
                <a:solidFill>
                  <a:srgbClr val="FFFFFF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Autor:in und Datum</a:t>
            </a:r>
          </a:p>
        </p:txBody>
      </p:sp>
      <p:sp>
        <p:nvSpPr>
          <p:cNvPr id="26" name="Titel der Präsentation"/>
          <p:cNvSpPr txBox="1"/>
          <p:nvPr>
            <p:ph type="title" hasCustomPrompt="1"/>
          </p:nvPr>
        </p:nvSpPr>
        <p:spPr>
          <a:xfrm>
            <a:off x="1270000" y="3289300"/>
            <a:ext cx="21844000" cy="3873500"/>
          </a:xfrm>
          <a:prstGeom prst="rect">
            <a:avLst/>
          </a:prstGeom>
        </p:spPr>
        <p:txBody>
          <a:bodyPr/>
          <a:lstStyle>
            <a:lvl1pPr defTabSz="2438400">
              <a:lnSpc>
                <a:spcPct val="90000"/>
              </a:lnSpc>
              <a:defRPr spc="-348" sz="11600">
                <a:solidFill>
                  <a:srgbClr val="FFFFFF"/>
                </a:solidFill>
              </a:defRPr>
            </a:lvl1pPr>
          </a:lstStyle>
          <a:p>
            <a:pPr/>
            <a:r>
              <a:t>Titel der Präsentation</a:t>
            </a:r>
          </a:p>
        </p:txBody>
      </p:sp>
      <p:sp>
        <p:nvSpPr>
          <p:cNvPr id="27" name="Textebene 1…"/>
          <p:cNvSpPr txBox="1"/>
          <p:nvPr>
            <p:ph type="body" sz="quarter" idx="1" hasCustomPrompt="1"/>
          </p:nvPr>
        </p:nvSpPr>
        <p:spPr>
          <a:xfrm>
            <a:off x="1270000" y="6985000"/>
            <a:ext cx="21844000" cy="2514600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6400">
                <a:solidFill>
                  <a:srgbClr val="FFFFFF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  <a:lvl2pPr marL="0" indent="0" algn="ctr" defTabSz="825500">
              <a:spcBef>
                <a:spcPts val="0"/>
              </a:spcBef>
              <a:buClrTx/>
              <a:buSzTx/>
              <a:buNone/>
              <a:defRPr sz="6400">
                <a:solidFill>
                  <a:srgbClr val="FFFFFF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2pPr>
            <a:lvl3pPr marL="0" indent="0" algn="ctr" defTabSz="825500">
              <a:spcBef>
                <a:spcPts val="0"/>
              </a:spcBef>
              <a:buClrTx/>
              <a:buSzTx/>
              <a:buNone/>
              <a:defRPr sz="6400">
                <a:solidFill>
                  <a:srgbClr val="FFFFFF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3pPr>
            <a:lvl4pPr marL="0" indent="0" algn="ctr" defTabSz="825500">
              <a:spcBef>
                <a:spcPts val="0"/>
              </a:spcBef>
              <a:buClrTx/>
              <a:buSzTx/>
              <a:buNone/>
              <a:defRPr sz="6400">
                <a:solidFill>
                  <a:srgbClr val="FFFFFF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4pPr>
            <a:lvl5pPr marL="0" indent="0" algn="ctr" defTabSz="825500">
              <a:spcBef>
                <a:spcPts val="0"/>
              </a:spcBef>
              <a:buClrTx/>
              <a:buSzTx/>
              <a:buNone/>
              <a:defRPr sz="6400">
                <a:solidFill>
                  <a:srgbClr val="FFFFFF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5pPr>
          </a:lstStyle>
          <a:p>
            <a:pPr/>
            <a:r>
              <a:t>Präsentationsuntertitel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pic>
        <p:nvPicPr>
          <p:cNvPr id="28" name="Home Grafik.svg" descr="Home Grafik.sv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758" y="72958"/>
            <a:ext cx="5459623" cy="881020"/>
          </a:xfrm>
          <a:prstGeom prst="rect">
            <a:avLst/>
          </a:prstGeom>
          <a:ln w="12700">
            <a:miter lim="400000"/>
          </a:ln>
        </p:spPr>
      </p:pic>
      <p:sp>
        <p:nvSpPr>
          <p:cNvPr id="29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el &amp; F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Zwei Quallen vor blauem Hintergrund"/>
          <p:cNvSpPr/>
          <p:nvPr>
            <p:ph type="pic" idx="21"/>
          </p:nvPr>
        </p:nvSpPr>
        <p:spPr>
          <a:xfrm>
            <a:off x="7962900" y="-25400"/>
            <a:ext cx="20650200" cy="13766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7" name="Folientitel"/>
          <p:cNvSpPr txBox="1"/>
          <p:nvPr>
            <p:ph type="title" hasCustomPrompt="1"/>
          </p:nvPr>
        </p:nvSpPr>
        <p:spPr>
          <a:xfrm>
            <a:off x="1270000" y="3885108"/>
            <a:ext cx="9652000" cy="3200203"/>
          </a:xfrm>
          <a:prstGeom prst="rect">
            <a:avLst/>
          </a:prstGeom>
        </p:spPr>
        <p:txBody>
          <a:bodyPr/>
          <a:lstStyle>
            <a:lvl1pPr>
              <a:defRPr>
                <a:gradFill flip="none" rotWithShape="1">
                  <a:gsLst>
                    <a:gs pos="0">
                      <a:srgbClr val="FF00D8"/>
                    </a:gs>
                    <a:gs pos="100000">
                      <a:srgbClr val="FF542E"/>
                    </a:gs>
                  </a:gsLst>
                  <a:lin ang="3960000" scaled="0"/>
                </a:gradFill>
              </a:defRPr>
            </a:lvl1pPr>
          </a:lstStyle>
          <a:p>
            <a:pPr/>
            <a:r>
              <a:t>Folientitel</a:t>
            </a:r>
          </a:p>
        </p:txBody>
      </p:sp>
      <p:sp>
        <p:nvSpPr>
          <p:cNvPr id="38" name="Textebene 1…"/>
          <p:cNvSpPr txBox="1"/>
          <p:nvPr>
            <p:ph type="body" sz="quarter" idx="1" hasCustomPrompt="1"/>
          </p:nvPr>
        </p:nvSpPr>
        <p:spPr>
          <a:xfrm>
            <a:off x="1270000" y="6845300"/>
            <a:ext cx="9652000" cy="5664200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5400"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  <a:lvl2pPr marL="0" indent="457200" algn="ctr" defTabSz="825500">
              <a:spcBef>
                <a:spcPts val="0"/>
              </a:spcBef>
              <a:buClrTx/>
              <a:buSzTx/>
              <a:buNone/>
              <a:defRPr sz="5400">
                <a:latin typeface="Avenir Next Medium"/>
                <a:ea typeface="Avenir Next Medium"/>
                <a:cs typeface="Avenir Next Medium"/>
                <a:sym typeface="Avenir Next Medium"/>
              </a:defRPr>
            </a:lvl2pPr>
            <a:lvl3pPr marL="0" indent="914400" algn="ctr" defTabSz="825500">
              <a:spcBef>
                <a:spcPts val="0"/>
              </a:spcBef>
              <a:buClrTx/>
              <a:buSzTx/>
              <a:buNone/>
              <a:defRPr sz="5400">
                <a:latin typeface="Avenir Next Medium"/>
                <a:ea typeface="Avenir Next Medium"/>
                <a:cs typeface="Avenir Next Medium"/>
                <a:sym typeface="Avenir Next Medium"/>
              </a:defRPr>
            </a:lvl3pPr>
            <a:lvl4pPr marL="0" indent="1371600" algn="ctr" defTabSz="825500">
              <a:spcBef>
                <a:spcPts val="0"/>
              </a:spcBef>
              <a:buClrTx/>
              <a:buSzTx/>
              <a:buNone/>
              <a:defRPr sz="5400">
                <a:latin typeface="Avenir Next Medium"/>
                <a:ea typeface="Avenir Next Medium"/>
                <a:cs typeface="Avenir Next Medium"/>
                <a:sym typeface="Avenir Next Medium"/>
              </a:defRPr>
            </a:lvl4pPr>
            <a:lvl5pPr marL="0" indent="1828800" algn="ctr" defTabSz="825500">
              <a:spcBef>
                <a:spcPts val="0"/>
              </a:spcBef>
              <a:buClrTx/>
              <a:buSzTx/>
              <a:buNone/>
              <a:defRPr sz="5400">
                <a:latin typeface="Avenir Next Medium"/>
                <a:ea typeface="Avenir Next Medium"/>
                <a:cs typeface="Avenir Next Medium"/>
                <a:sym typeface="Avenir Next Medium"/>
              </a:defRPr>
            </a:lvl5pPr>
          </a:lstStyle>
          <a:p>
            <a:pPr/>
            <a:r>
              <a:t>Folien-Untertitel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pic>
        <p:nvPicPr>
          <p:cNvPr id="39" name="Home Grafik.svg" descr="Home Grafik.sv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758" y="72958"/>
            <a:ext cx="5459623" cy="881020"/>
          </a:xfrm>
          <a:prstGeom prst="rect">
            <a:avLst/>
          </a:prstGeom>
          <a:ln w="12700">
            <a:miter lim="400000"/>
          </a:ln>
        </p:spPr>
      </p:pic>
      <p:sp>
        <p:nvSpPr>
          <p:cNvPr id="40" name="Vocs Pouani                                                                                                       Einführung und Vertiefung in Phython"/>
          <p:cNvSpPr txBox="1"/>
          <p:nvPr/>
        </p:nvSpPr>
        <p:spPr>
          <a:xfrm>
            <a:off x="751162" y="13107116"/>
            <a:ext cx="23309155" cy="694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algn="ctr" defTabSz="808990">
              <a:spcBef>
                <a:spcPts val="0"/>
              </a:spcBef>
              <a:defRPr sz="3430">
                <a:solidFill>
                  <a:srgbClr val="929292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Vocs Pouani                                                                                                       Einführung und Vertiefung in Phython</a:t>
            </a:r>
          </a:p>
        </p:txBody>
      </p:sp>
      <p:sp>
        <p:nvSpPr>
          <p:cNvPr id="41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el &amp; 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Folientitel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Folientitel</a:t>
            </a:r>
          </a:p>
        </p:txBody>
      </p:sp>
      <p:sp>
        <p:nvSpPr>
          <p:cNvPr id="49" name="Folien-Untertitel"/>
          <p:cNvSpPr txBox="1"/>
          <p:nvPr>
            <p:ph type="body" sz="quarter" idx="21" hasCustomPrompt="1"/>
          </p:nvPr>
        </p:nvSpPr>
        <p:spPr>
          <a:xfrm>
            <a:off x="1270000" y="2133600"/>
            <a:ext cx="21844000" cy="1016000"/>
          </a:xfrm>
          <a:prstGeom prst="rect">
            <a:avLst/>
          </a:prstGeom>
        </p:spPr>
        <p:txBody>
          <a:bodyPr/>
          <a:lstStyle>
            <a:lvl1pPr marL="0" indent="0" algn="ctr" defTabSz="808990">
              <a:spcBef>
                <a:spcPts val="0"/>
              </a:spcBef>
              <a:buClrTx/>
              <a:buSzTx/>
              <a:buNone/>
              <a:defRPr sz="5292"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Folien-Untertitel</a:t>
            </a:r>
          </a:p>
        </p:txBody>
      </p:sp>
      <p:sp>
        <p:nvSpPr>
          <p:cNvPr id="50" name="Textebene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 für Folienpunkt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1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ebene 1…"/>
          <p:cNvSpPr txBox="1"/>
          <p:nvPr>
            <p:ph type="body" idx="1" hasCustomPrompt="1"/>
          </p:nvPr>
        </p:nvSpPr>
        <p:spPr>
          <a:xfrm>
            <a:off x="1270000" y="4269316"/>
            <a:ext cx="21844000" cy="8432801"/>
          </a:xfrm>
          <a:prstGeom prst="rect">
            <a:avLst/>
          </a:prstGeom>
        </p:spPr>
        <p:txBody>
          <a:bodyPr numCol="2" spcCol="1092200"/>
          <a:lstStyle/>
          <a:p>
            <a:pPr/>
            <a:r>
              <a:t>Text für Folienpunkt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pic>
        <p:nvPicPr>
          <p:cNvPr id="59" name="Home Grafik.svg" descr="Home Grafik.sv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758" y="72958"/>
            <a:ext cx="5459623" cy="881020"/>
          </a:xfrm>
          <a:prstGeom prst="rect">
            <a:avLst/>
          </a:prstGeom>
          <a:ln w="12700">
            <a:miter lim="400000"/>
          </a:ln>
        </p:spPr>
      </p:pic>
      <p:sp>
        <p:nvSpPr>
          <p:cNvPr id="60" name="Vocs Pouani                                                                                                       Einführung und Vertiefung in Phython"/>
          <p:cNvSpPr txBox="1"/>
          <p:nvPr/>
        </p:nvSpPr>
        <p:spPr>
          <a:xfrm>
            <a:off x="751162" y="12992815"/>
            <a:ext cx="23309155" cy="694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algn="ctr" defTabSz="808990">
              <a:spcBef>
                <a:spcPts val="0"/>
              </a:spcBef>
              <a:defRPr sz="3430">
                <a:solidFill>
                  <a:srgbClr val="929292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Vocs Pouani                                                                                                       Einführung und Vertiefung in Phython</a:t>
            </a:r>
          </a:p>
        </p:txBody>
      </p:sp>
      <p:sp>
        <p:nvSpPr>
          <p:cNvPr id="61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el, Punkte &amp;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Zwei Quallen vor rosafarbenem Hintergrund"/>
          <p:cNvSpPr/>
          <p:nvPr>
            <p:ph type="pic" idx="21"/>
          </p:nvPr>
        </p:nvSpPr>
        <p:spPr>
          <a:xfrm>
            <a:off x="10185400" y="0"/>
            <a:ext cx="18161000" cy="1371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9" name="Folientitel"/>
          <p:cNvSpPr txBox="1"/>
          <p:nvPr>
            <p:ph type="title" hasCustomPrompt="1"/>
          </p:nvPr>
        </p:nvSpPr>
        <p:spPr>
          <a:xfrm>
            <a:off x="1270000" y="838200"/>
            <a:ext cx="9652000" cy="1549400"/>
          </a:xfrm>
          <a:prstGeom prst="rect">
            <a:avLst/>
          </a:prstGeom>
        </p:spPr>
        <p:txBody>
          <a:bodyPr/>
          <a:lstStyle>
            <a:lvl1pPr>
              <a:defRPr>
                <a:gradFill flip="none" rotWithShape="1">
                  <a:gsLst>
                    <a:gs pos="0">
                      <a:srgbClr val="5E03FF"/>
                    </a:gs>
                    <a:gs pos="100000">
                      <a:srgbClr val="FF00F7"/>
                    </a:gs>
                  </a:gsLst>
                  <a:lin ang="3960000" scaled="0"/>
                </a:gradFill>
              </a:defRPr>
            </a:lvl1pPr>
          </a:lstStyle>
          <a:p>
            <a:pPr/>
            <a:r>
              <a:t>Folientitel</a:t>
            </a:r>
          </a:p>
        </p:txBody>
      </p:sp>
      <p:sp>
        <p:nvSpPr>
          <p:cNvPr id="70" name="Textebene 1…"/>
          <p:cNvSpPr txBox="1"/>
          <p:nvPr>
            <p:ph type="body" sz="half" idx="1" hasCustomPrompt="1"/>
          </p:nvPr>
        </p:nvSpPr>
        <p:spPr>
          <a:xfrm>
            <a:off x="1270000" y="4267200"/>
            <a:ext cx="9652000" cy="8432800"/>
          </a:xfrm>
          <a:prstGeom prst="rect">
            <a:avLst/>
          </a:prstGeom>
        </p:spPr>
        <p:txBody>
          <a:bodyPr/>
          <a:lstStyle/>
          <a:p>
            <a:pPr/>
            <a:r>
              <a:t>Text für Folienpunkt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1" name="Folien-Untertitel"/>
          <p:cNvSpPr txBox="1"/>
          <p:nvPr>
            <p:ph type="body" sz="quarter" idx="22" hasCustomPrompt="1"/>
          </p:nvPr>
        </p:nvSpPr>
        <p:spPr>
          <a:xfrm>
            <a:off x="1270000" y="2133600"/>
            <a:ext cx="9652000" cy="1016000"/>
          </a:xfrm>
          <a:prstGeom prst="rect">
            <a:avLst/>
          </a:prstGeom>
        </p:spPr>
        <p:txBody>
          <a:bodyPr/>
          <a:lstStyle>
            <a:lvl1pPr marL="0" indent="0" algn="ctr" defTabSz="808990">
              <a:spcBef>
                <a:spcPts val="0"/>
              </a:spcBef>
              <a:buClrTx/>
              <a:buSzTx/>
              <a:buNone/>
              <a:defRPr sz="5292"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Folien-Untertitel</a:t>
            </a:r>
          </a:p>
        </p:txBody>
      </p:sp>
      <p:pic>
        <p:nvPicPr>
          <p:cNvPr id="72" name="Home Grafik.svg" descr="Home Grafik.sv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758" y="72958"/>
            <a:ext cx="5459623" cy="881020"/>
          </a:xfrm>
          <a:prstGeom prst="rect">
            <a:avLst/>
          </a:prstGeom>
          <a:ln w="12700">
            <a:miter lim="400000"/>
          </a:ln>
        </p:spPr>
      </p:pic>
      <p:sp>
        <p:nvSpPr>
          <p:cNvPr id="73" name="Vocs Pouani                                                                                                       Einführung und Vertiefung in Phython"/>
          <p:cNvSpPr txBox="1"/>
          <p:nvPr/>
        </p:nvSpPr>
        <p:spPr>
          <a:xfrm>
            <a:off x="751162" y="13094416"/>
            <a:ext cx="23309155" cy="694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algn="ctr" defTabSz="808990">
              <a:spcBef>
                <a:spcPts val="0"/>
              </a:spcBef>
              <a:defRPr sz="3430">
                <a:solidFill>
                  <a:srgbClr val="929292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Vocs Pouani                                                                                                       Einführung und Vertiefung in Phython</a:t>
            </a:r>
          </a:p>
        </p:txBody>
      </p:sp>
      <p:sp>
        <p:nvSpPr>
          <p:cNvPr id="74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el, Punkte &amp; Livevideo – kle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Folientitel"/>
          <p:cNvSpPr txBox="1"/>
          <p:nvPr>
            <p:ph type="title" hasCustomPrompt="1"/>
          </p:nvPr>
        </p:nvSpPr>
        <p:spPr>
          <a:xfrm>
            <a:off x="1270000" y="838200"/>
            <a:ext cx="9652000" cy="1549400"/>
          </a:xfrm>
          <a:prstGeom prst="rect">
            <a:avLst/>
          </a:prstGeom>
        </p:spPr>
        <p:txBody>
          <a:bodyPr/>
          <a:lstStyle>
            <a:lvl1pPr>
              <a:defRPr>
                <a:gradFill flip="none" rotWithShape="1">
                  <a:gsLst>
                    <a:gs pos="0">
                      <a:srgbClr val="5E03FF"/>
                    </a:gs>
                    <a:gs pos="100000">
                      <a:srgbClr val="FF00F7"/>
                    </a:gs>
                  </a:gsLst>
                  <a:lin ang="3960000" scaled="0"/>
                </a:gradFill>
              </a:defRPr>
            </a:lvl1pPr>
          </a:lstStyle>
          <a:p>
            <a:pPr/>
            <a:r>
              <a:t>Folientitel</a:t>
            </a:r>
          </a:p>
        </p:txBody>
      </p:sp>
      <p:sp>
        <p:nvSpPr>
          <p:cNvPr id="82" name="Textebene 1…"/>
          <p:cNvSpPr txBox="1"/>
          <p:nvPr>
            <p:ph type="body" sz="half" idx="1" hasCustomPrompt="1"/>
          </p:nvPr>
        </p:nvSpPr>
        <p:spPr>
          <a:xfrm>
            <a:off x="1270000" y="4267200"/>
            <a:ext cx="9652000" cy="8432800"/>
          </a:xfrm>
          <a:prstGeom prst="rect">
            <a:avLst/>
          </a:prstGeom>
        </p:spPr>
        <p:txBody>
          <a:bodyPr/>
          <a:lstStyle/>
          <a:p>
            <a:pPr/>
            <a:r>
              <a:t>Text für Folienpunkt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Folien-Untertitel"/>
          <p:cNvSpPr txBox="1"/>
          <p:nvPr>
            <p:ph type="body" sz="quarter" idx="21" hasCustomPrompt="1"/>
          </p:nvPr>
        </p:nvSpPr>
        <p:spPr>
          <a:xfrm>
            <a:off x="1270000" y="2133600"/>
            <a:ext cx="9652000" cy="1016000"/>
          </a:xfrm>
          <a:prstGeom prst="rect">
            <a:avLst/>
          </a:prstGeom>
        </p:spPr>
        <p:txBody>
          <a:bodyPr/>
          <a:lstStyle>
            <a:lvl1pPr marL="0" indent="0" algn="ctr" defTabSz="808990">
              <a:spcBef>
                <a:spcPts val="0"/>
              </a:spcBef>
              <a:buClrTx/>
              <a:buSzTx/>
              <a:buNone/>
              <a:defRPr sz="5292"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Folien-Untertitel</a:t>
            </a:r>
          </a:p>
        </p:txBody>
      </p:sp>
      <p:sp>
        <p:nvSpPr>
          <p:cNvPr id="84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el, Punkte &amp; Livevideo – gro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Folientitel"/>
          <p:cNvSpPr txBox="1"/>
          <p:nvPr>
            <p:ph type="title" hasCustomPrompt="1"/>
          </p:nvPr>
        </p:nvSpPr>
        <p:spPr>
          <a:xfrm>
            <a:off x="1270000" y="838200"/>
            <a:ext cx="9652000" cy="1549400"/>
          </a:xfrm>
          <a:prstGeom prst="rect">
            <a:avLst/>
          </a:prstGeom>
        </p:spPr>
        <p:txBody>
          <a:bodyPr/>
          <a:lstStyle>
            <a:lvl1pPr>
              <a:defRPr>
                <a:gradFill flip="none" rotWithShape="1">
                  <a:gsLst>
                    <a:gs pos="0">
                      <a:srgbClr val="5E03FF"/>
                    </a:gs>
                    <a:gs pos="100000">
                      <a:srgbClr val="FF00F7"/>
                    </a:gs>
                  </a:gsLst>
                  <a:lin ang="3960000" scaled="0"/>
                </a:gradFill>
              </a:defRPr>
            </a:lvl1pPr>
          </a:lstStyle>
          <a:p>
            <a:pPr/>
            <a:r>
              <a:t>Folientitel</a:t>
            </a:r>
          </a:p>
        </p:txBody>
      </p:sp>
      <p:sp>
        <p:nvSpPr>
          <p:cNvPr id="92" name="Textebene 1…"/>
          <p:cNvSpPr txBox="1"/>
          <p:nvPr>
            <p:ph type="body" sz="half" idx="1" hasCustomPrompt="1"/>
          </p:nvPr>
        </p:nvSpPr>
        <p:spPr>
          <a:xfrm>
            <a:off x="1270000" y="4267200"/>
            <a:ext cx="9652000" cy="8432800"/>
          </a:xfrm>
          <a:prstGeom prst="rect">
            <a:avLst/>
          </a:prstGeom>
        </p:spPr>
        <p:txBody>
          <a:bodyPr/>
          <a:lstStyle/>
          <a:p>
            <a:pPr/>
            <a:r>
              <a:t>Text für Folienpunkt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3" name="Folien-Untertitel"/>
          <p:cNvSpPr txBox="1"/>
          <p:nvPr>
            <p:ph type="body" sz="quarter" idx="21" hasCustomPrompt="1"/>
          </p:nvPr>
        </p:nvSpPr>
        <p:spPr>
          <a:xfrm>
            <a:off x="1270000" y="2133600"/>
            <a:ext cx="9652000" cy="1016000"/>
          </a:xfrm>
          <a:prstGeom prst="rect">
            <a:avLst/>
          </a:prstGeom>
        </p:spPr>
        <p:txBody>
          <a:bodyPr/>
          <a:lstStyle>
            <a:lvl1pPr marL="0" indent="0" algn="ctr" defTabSz="808990">
              <a:spcBef>
                <a:spcPts val="0"/>
              </a:spcBef>
              <a:buClrTx/>
              <a:buSzTx/>
              <a:buNone/>
              <a:defRPr sz="5292"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Folien-Untertitel</a:t>
            </a:r>
          </a:p>
        </p:txBody>
      </p:sp>
      <p:sp>
        <p:nvSpPr>
          <p:cNvPr id="94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Abschni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el des Abschnitts"/>
          <p:cNvSpPr txBox="1"/>
          <p:nvPr>
            <p:ph type="title" hasCustomPrompt="1"/>
          </p:nvPr>
        </p:nvSpPr>
        <p:spPr>
          <a:xfrm>
            <a:off x="1270000" y="3289300"/>
            <a:ext cx="21844000" cy="38735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pc="-348" sz="11600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542E"/>
                    </a:gs>
                  </a:gsLst>
                  <a:lin ang="3960000" scaled="0"/>
                </a:gradFill>
              </a:defRPr>
            </a:lvl1pPr>
          </a:lstStyle>
          <a:p>
            <a:pPr/>
            <a:r>
              <a:t>Titel des Abschnitts</a:t>
            </a:r>
          </a:p>
        </p:txBody>
      </p:sp>
      <p:pic>
        <p:nvPicPr>
          <p:cNvPr id="102" name="Home Grafik.svg" descr="Home Grafik.sv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758" y="72958"/>
            <a:ext cx="5459623" cy="881020"/>
          </a:xfrm>
          <a:prstGeom prst="rect">
            <a:avLst/>
          </a:prstGeom>
          <a:ln w="12700">
            <a:miter lim="400000"/>
          </a:ln>
        </p:spPr>
      </p:pic>
      <p:sp>
        <p:nvSpPr>
          <p:cNvPr id="103" name="Vocs Pouani                                                                                                       Einführung und Vertiefung in Phython"/>
          <p:cNvSpPr txBox="1"/>
          <p:nvPr/>
        </p:nvSpPr>
        <p:spPr>
          <a:xfrm>
            <a:off x="751162" y="13030916"/>
            <a:ext cx="23309155" cy="694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algn="ctr" defTabSz="808990">
              <a:spcBef>
                <a:spcPts val="0"/>
              </a:spcBef>
              <a:defRPr sz="3430">
                <a:solidFill>
                  <a:srgbClr val="929292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Vocs Pouani                                                                                                       Einführung und Vertiefung in Phython</a:t>
            </a:r>
          </a:p>
        </p:txBody>
      </p:sp>
      <p:sp>
        <p:nvSpPr>
          <p:cNvPr id="104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Folientitel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Folientitel</a:t>
            </a:r>
          </a:p>
        </p:txBody>
      </p:sp>
      <p:sp>
        <p:nvSpPr>
          <p:cNvPr id="112" name="Folien-Untertitel"/>
          <p:cNvSpPr txBox="1"/>
          <p:nvPr>
            <p:ph type="body" sz="quarter" idx="21" hasCustomPrompt="1"/>
          </p:nvPr>
        </p:nvSpPr>
        <p:spPr>
          <a:xfrm>
            <a:off x="1270000" y="2133600"/>
            <a:ext cx="21844000" cy="1016000"/>
          </a:xfrm>
          <a:prstGeom prst="rect">
            <a:avLst/>
          </a:prstGeom>
        </p:spPr>
        <p:txBody>
          <a:bodyPr/>
          <a:lstStyle>
            <a:lvl1pPr marL="0" indent="0" algn="ctr" defTabSz="808990">
              <a:spcBef>
                <a:spcPts val="0"/>
              </a:spcBef>
              <a:buClrTx/>
              <a:buSzTx/>
              <a:buNone/>
              <a:defRPr sz="5292"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Folien-Untertitel</a:t>
            </a:r>
          </a:p>
        </p:txBody>
      </p:sp>
      <p:pic>
        <p:nvPicPr>
          <p:cNvPr id="113" name="Home Grafik.svg" descr="Home Grafik.sv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758" y="72958"/>
            <a:ext cx="5459623" cy="881020"/>
          </a:xfrm>
          <a:prstGeom prst="rect">
            <a:avLst/>
          </a:prstGeom>
          <a:ln w="12700">
            <a:miter lim="400000"/>
          </a:ln>
        </p:spPr>
      </p:pic>
      <p:sp>
        <p:nvSpPr>
          <p:cNvPr id="114" name="Vocs Pouani                                                                                                       Einführung und Vertiefung in Phython"/>
          <p:cNvSpPr txBox="1"/>
          <p:nvPr/>
        </p:nvSpPr>
        <p:spPr>
          <a:xfrm>
            <a:off x="751162" y="13030916"/>
            <a:ext cx="23309155" cy="694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algn="ctr" defTabSz="808990">
              <a:spcBef>
                <a:spcPts val="0"/>
              </a:spcBef>
              <a:defRPr sz="3430">
                <a:solidFill>
                  <a:srgbClr val="929292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Vocs Pouani                                                                                                       Einführung und Vertiefung in Phython</a:t>
            </a:r>
          </a:p>
        </p:txBody>
      </p:sp>
      <p:sp>
        <p:nvSpPr>
          <p:cNvPr id="115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Agenda-Titel"/>
          <p:cNvSpPr txBox="1"/>
          <p:nvPr>
            <p:ph type="title" hasCustomPrompt="1"/>
          </p:nvPr>
        </p:nvSpPr>
        <p:spPr>
          <a:xfrm>
            <a:off x="1270000" y="812800"/>
            <a:ext cx="21844000" cy="1562100"/>
          </a:xfrm>
          <a:prstGeom prst="rect">
            <a:avLst/>
          </a:prstGeom>
        </p:spPr>
        <p:txBody>
          <a:bodyPr/>
          <a:lstStyle/>
          <a:p>
            <a:pPr/>
            <a:r>
              <a:t>Agenda-Titel</a:t>
            </a:r>
          </a:p>
        </p:txBody>
      </p:sp>
      <p:sp>
        <p:nvSpPr>
          <p:cNvPr id="123" name="Agenda-Untertitel"/>
          <p:cNvSpPr txBox="1"/>
          <p:nvPr>
            <p:ph type="body" sz="quarter" idx="21" hasCustomPrompt="1"/>
          </p:nvPr>
        </p:nvSpPr>
        <p:spPr>
          <a:xfrm>
            <a:off x="1270000" y="2133600"/>
            <a:ext cx="21844000" cy="1016000"/>
          </a:xfrm>
          <a:prstGeom prst="rect">
            <a:avLst/>
          </a:prstGeom>
        </p:spPr>
        <p:txBody>
          <a:bodyPr/>
          <a:lstStyle>
            <a:lvl1pPr marL="0" indent="0" algn="ctr" defTabSz="808990">
              <a:spcBef>
                <a:spcPts val="0"/>
              </a:spcBef>
              <a:buClrTx/>
              <a:buSzTx/>
              <a:buNone/>
              <a:defRPr sz="5292"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Agenda-Untertitel</a:t>
            </a:r>
          </a:p>
        </p:txBody>
      </p:sp>
      <p:sp>
        <p:nvSpPr>
          <p:cNvPr id="124" name="Textebene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buClrTx/>
              <a:buSzTx/>
              <a:buNone/>
              <a:defRPr spc="-55" sz="5500"/>
            </a:lvl1pPr>
            <a:lvl2pPr marL="0" indent="457200" defTabSz="825500">
              <a:buClrTx/>
              <a:buSzTx/>
              <a:buNone/>
              <a:defRPr spc="-55" sz="5500"/>
            </a:lvl2pPr>
            <a:lvl3pPr marL="0" indent="914400" defTabSz="825500">
              <a:buClrTx/>
              <a:buSzTx/>
              <a:buNone/>
              <a:defRPr spc="-55" sz="5500"/>
            </a:lvl3pPr>
            <a:lvl4pPr marL="0" indent="1371600" defTabSz="825500">
              <a:buClrTx/>
              <a:buSzTx/>
              <a:buNone/>
              <a:defRPr spc="-55" sz="5500"/>
            </a:lvl4pPr>
            <a:lvl5pPr marL="0" indent="1828800" defTabSz="825500">
              <a:buClrTx/>
              <a:buSzTx/>
              <a:buNone/>
              <a:defRPr spc="-55" sz="5500"/>
            </a:lvl5pPr>
          </a:lstStyle>
          <a:p>
            <a:pPr/>
            <a:r>
              <a:t>Agendathemen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pic>
        <p:nvPicPr>
          <p:cNvPr id="125" name="Home Grafik.svg" descr="Home Grafik.sv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758" y="72958"/>
            <a:ext cx="5459623" cy="881020"/>
          </a:xfrm>
          <a:prstGeom prst="rect">
            <a:avLst/>
          </a:prstGeom>
          <a:ln w="12700">
            <a:miter lim="400000"/>
          </a:ln>
        </p:spPr>
      </p:pic>
      <p:sp>
        <p:nvSpPr>
          <p:cNvPr id="126" name="Vocs Pouani                                                                                                       Einführung und Vertiefung in Phython"/>
          <p:cNvSpPr txBox="1"/>
          <p:nvPr/>
        </p:nvSpPr>
        <p:spPr>
          <a:xfrm>
            <a:off x="751162" y="13043616"/>
            <a:ext cx="23309155" cy="694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algn="ctr" defTabSz="808990">
              <a:spcBef>
                <a:spcPts val="0"/>
              </a:spcBef>
              <a:defRPr sz="3430">
                <a:solidFill>
                  <a:srgbClr val="929292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Vocs Pouani                                                                                                       Einführung und Vertiefung in Phython</a:t>
            </a:r>
          </a:p>
        </p:txBody>
      </p:sp>
      <p:sp>
        <p:nvSpPr>
          <p:cNvPr id="127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Aufstel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extebene 1…"/>
          <p:cNvSpPr txBox="1"/>
          <p:nvPr>
            <p:ph type="body" sz="half" idx="1" hasCustomPrompt="1"/>
          </p:nvPr>
        </p:nvSpPr>
        <p:spPr>
          <a:xfrm>
            <a:off x="1270000" y="4927600"/>
            <a:ext cx="21844000" cy="3902869"/>
          </a:xfrm>
          <a:prstGeom prst="rect">
            <a:avLst/>
          </a:prstGeom>
        </p:spPr>
        <p:txBody>
          <a:bodyPr anchor="ctr"/>
          <a:lstStyle>
            <a:lvl1pPr marL="0" indent="0" algn="ctr">
              <a:spcBef>
                <a:spcPts val="0"/>
              </a:spcBef>
              <a:buClrTx/>
              <a:buSzTx/>
              <a:buNone/>
              <a:defRPr spc="-252" sz="8400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  <a:lvl2pPr marL="0" indent="457200" algn="ctr">
              <a:spcBef>
                <a:spcPts val="0"/>
              </a:spcBef>
              <a:buClrTx/>
              <a:buSzTx/>
              <a:buNone/>
              <a:defRPr spc="-252" sz="8400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Avenir Next Medium"/>
                <a:ea typeface="Avenir Next Medium"/>
                <a:cs typeface="Avenir Next Medium"/>
                <a:sym typeface="Avenir Next Medium"/>
              </a:defRPr>
            </a:lvl2pPr>
            <a:lvl3pPr marL="0" indent="914400" algn="ctr">
              <a:spcBef>
                <a:spcPts val="0"/>
              </a:spcBef>
              <a:buClrTx/>
              <a:buSzTx/>
              <a:buNone/>
              <a:defRPr spc="-252" sz="8400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Avenir Next Medium"/>
                <a:ea typeface="Avenir Next Medium"/>
                <a:cs typeface="Avenir Next Medium"/>
                <a:sym typeface="Avenir Next Medium"/>
              </a:defRPr>
            </a:lvl3pPr>
            <a:lvl4pPr marL="0" indent="1371600" algn="ctr">
              <a:spcBef>
                <a:spcPts val="0"/>
              </a:spcBef>
              <a:buClrTx/>
              <a:buSzTx/>
              <a:buNone/>
              <a:defRPr spc="-252" sz="8400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Avenir Next Medium"/>
                <a:ea typeface="Avenir Next Medium"/>
                <a:cs typeface="Avenir Next Medium"/>
                <a:sym typeface="Avenir Next Medium"/>
              </a:defRPr>
            </a:lvl4pPr>
            <a:lvl5pPr marL="0" indent="1828800" algn="ctr">
              <a:spcBef>
                <a:spcPts val="0"/>
              </a:spcBef>
              <a:buClrTx/>
              <a:buSzTx/>
              <a:buNone/>
              <a:defRPr spc="-252" sz="8400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Avenir Next Medium"/>
                <a:ea typeface="Avenir Next Medium"/>
                <a:cs typeface="Avenir Next Medium"/>
                <a:sym typeface="Avenir Next Medium"/>
              </a:defRPr>
            </a:lvl5pPr>
          </a:lstStyle>
          <a:p>
            <a:pPr/>
            <a:r>
              <a:t>Aufstellung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pic>
        <p:nvPicPr>
          <p:cNvPr id="135" name="Home Grafik.svg" descr="Home Grafik.sv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758" y="72958"/>
            <a:ext cx="5459623" cy="881020"/>
          </a:xfrm>
          <a:prstGeom prst="rect">
            <a:avLst/>
          </a:prstGeom>
          <a:ln w="12700">
            <a:miter lim="400000"/>
          </a:ln>
        </p:spPr>
      </p:pic>
      <p:sp>
        <p:nvSpPr>
          <p:cNvPr id="136" name="Vocs Pouani                                                                                                       Einführung und Vertiefung in Phython"/>
          <p:cNvSpPr txBox="1"/>
          <p:nvPr/>
        </p:nvSpPr>
        <p:spPr>
          <a:xfrm>
            <a:off x="751162" y="13043616"/>
            <a:ext cx="23309155" cy="694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algn="ctr" defTabSz="808990">
              <a:spcBef>
                <a:spcPts val="0"/>
              </a:spcBef>
              <a:defRPr sz="3430">
                <a:solidFill>
                  <a:srgbClr val="929292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Vocs Pouani                                                                                                       Einführung und Vertiefung in Phython</a:t>
            </a:r>
          </a:p>
        </p:txBody>
      </p:sp>
      <p:sp>
        <p:nvSpPr>
          <p:cNvPr id="137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Fakt (groß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ebene 1…"/>
          <p:cNvSpPr txBox="1"/>
          <p:nvPr>
            <p:ph type="body" sz="half" idx="1" hasCustomPrompt="1"/>
          </p:nvPr>
        </p:nvSpPr>
        <p:spPr>
          <a:xfrm>
            <a:off x="1270000" y="3906096"/>
            <a:ext cx="21844000" cy="4488604"/>
          </a:xfrm>
          <a:prstGeom prst="rect">
            <a:avLst/>
          </a:prstGeom>
        </p:spPr>
        <p:txBody>
          <a:bodyPr anchor="b"/>
          <a:lstStyle>
            <a:lvl1pPr marL="0" indent="0" algn="ctr" defTabSz="2438338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448" sz="22400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Avenir Next Demi Bold"/>
              </a:defRPr>
            </a:lvl1pPr>
            <a:lvl2pPr marL="0" indent="457200" algn="ctr" defTabSz="2438338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448" sz="22400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Avenir Next Demi Bold"/>
              </a:defRPr>
            </a:lvl2pPr>
            <a:lvl3pPr marL="0" indent="914400" algn="ctr" defTabSz="2438338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448" sz="22400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Avenir Next Demi Bold"/>
              </a:defRPr>
            </a:lvl3pPr>
            <a:lvl4pPr marL="0" indent="1371600" algn="ctr" defTabSz="2438338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448" sz="22400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Avenir Next Demi Bold"/>
              </a:defRPr>
            </a:lvl4pPr>
            <a:lvl5pPr marL="0" indent="1828800" algn="ctr" defTabSz="2438338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448" sz="22400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Avenir Next Demi Bold"/>
              </a:defRPr>
            </a:lvl5pPr>
          </a:lstStyle>
          <a:p>
            <a:pPr/>
            <a:r>
              <a:t>100 %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5" name="Fakten"/>
          <p:cNvSpPr txBox="1"/>
          <p:nvPr>
            <p:ph type="body" sz="quarter" idx="21" hasCustomPrompt="1"/>
          </p:nvPr>
        </p:nvSpPr>
        <p:spPr>
          <a:xfrm>
            <a:off x="1270000" y="8521700"/>
            <a:ext cx="21844000" cy="1016000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4400"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Fakten</a:t>
            </a:r>
          </a:p>
        </p:txBody>
      </p:sp>
      <p:pic>
        <p:nvPicPr>
          <p:cNvPr id="146" name="Home Grafik.svg" descr="Home Grafik.sv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758" y="72958"/>
            <a:ext cx="5459623" cy="881020"/>
          </a:xfrm>
          <a:prstGeom prst="rect">
            <a:avLst/>
          </a:prstGeom>
          <a:ln w="12700">
            <a:miter lim="400000"/>
          </a:ln>
        </p:spPr>
      </p:pic>
      <p:sp>
        <p:nvSpPr>
          <p:cNvPr id="147" name="Vocs Pouani                                                                                                       Einführung und Vertiefung in Phython"/>
          <p:cNvSpPr txBox="1"/>
          <p:nvPr/>
        </p:nvSpPr>
        <p:spPr>
          <a:xfrm>
            <a:off x="751162" y="13005516"/>
            <a:ext cx="23309155" cy="694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algn="ctr" defTabSz="808990">
              <a:spcBef>
                <a:spcPts val="0"/>
              </a:spcBef>
              <a:defRPr sz="3430">
                <a:solidFill>
                  <a:srgbClr val="929292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Vocs Pouani                                                                                                       Einführung und Vertiefung in Phython</a:t>
            </a:r>
          </a:p>
        </p:txBody>
      </p:sp>
      <p:sp>
        <p:nvSpPr>
          <p:cNvPr id="148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Quellenangabe"/>
          <p:cNvSpPr txBox="1"/>
          <p:nvPr>
            <p:ph type="body" sz="quarter" idx="21" hasCustomPrompt="1"/>
          </p:nvPr>
        </p:nvSpPr>
        <p:spPr>
          <a:xfrm>
            <a:off x="1270000" y="11155086"/>
            <a:ext cx="21844000" cy="832613"/>
          </a:xfrm>
          <a:prstGeom prst="rect">
            <a:avLst/>
          </a:prstGeom>
        </p:spPr>
        <p:txBody>
          <a:bodyPr anchor="ctr"/>
          <a:lstStyle>
            <a:lvl1pPr marL="0" indent="0" algn="ctr" defTabSz="792479">
              <a:spcBef>
                <a:spcPts val="0"/>
              </a:spcBef>
              <a:buClrTx/>
              <a:buSzTx/>
              <a:buNone/>
              <a:defRPr sz="4224"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Quellenangabe</a:t>
            </a:r>
          </a:p>
        </p:txBody>
      </p:sp>
      <p:sp>
        <p:nvSpPr>
          <p:cNvPr id="156" name="Textebene 1…"/>
          <p:cNvSpPr txBox="1"/>
          <p:nvPr>
            <p:ph type="body" sz="half" idx="1" hasCustomPrompt="1"/>
          </p:nvPr>
        </p:nvSpPr>
        <p:spPr>
          <a:xfrm>
            <a:off x="1270000" y="5141969"/>
            <a:ext cx="21844000" cy="3430191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168" sz="8400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542E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Avenir Next Demi Bold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168" sz="8400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542E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Avenir Next Demi Bold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168" sz="8400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542E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Avenir Next Demi Bold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168" sz="8400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542E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Avenir Next Demi Bold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168" sz="8400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542E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Avenir Next Demi Bold"/>
              </a:defRPr>
            </a:lvl5pPr>
          </a:lstStyle>
          <a:p>
            <a:pPr/>
            <a:r>
              <a:t>„Bemerkenswert“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pic>
        <p:nvPicPr>
          <p:cNvPr id="157" name="Home Grafik.svg" descr="Home Grafik.sv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758" y="72958"/>
            <a:ext cx="5459623" cy="881020"/>
          </a:xfrm>
          <a:prstGeom prst="rect">
            <a:avLst/>
          </a:prstGeom>
          <a:ln w="12700">
            <a:miter lim="400000"/>
          </a:ln>
        </p:spPr>
      </p:pic>
      <p:sp>
        <p:nvSpPr>
          <p:cNvPr id="158" name="Vocs Pouani                                                                                                       Einführung und Vertiefung in Phython"/>
          <p:cNvSpPr txBox="1"/>
          <p:nvPr/>
        </p:nvSpPr>
        <p:spPr>
          <a:xfrm>
            <a:off x="751162" y="12992815"/>
            <a:ext cx="23309155" cy="694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algn="ctr" defTabSz="808990">
              <a:spcBef>
                <a:spcPts val="0"/>
              </a:spcBef>
              <a:defRPr sz="3430">
                <a:solidFill>
                  <a:srgbClr val="929292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Vocs Pouani                                                                                                       Einführung und Vertiefung in Phython</a:t>
            </a:r>
          </a:p>
        </p:txBody>
      </p:sp>
      <p:sp>
        <p:nvSpPr>
          <p:cNvPr id="159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Foto - 3 Stü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Zwei Quallen vor rosafarbenem Hintergrund"/>
          <p:cNvSpPr/>
          <p:nvPr>
            <p:ph type="pic" sz="half" idx="21"/>
          </p:nvPr>
        </p:nvSpPr>
        <p:spPr>
          <a:xfrm>
            <a:off x="12192000" y="4813300"/>
            <a:ext cx="12192000" cy="920794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67" name="Zwei sich berührende Quallen vor dunkelblauem Hintergrund"/>
          <p:cNvSpPr/>
          <p:nvPr>
            <p:ph type="pic" sz="half" idx="22"/>
          </p:nvPr>
        </p:nvSpPr>
        <p:spPr>
          <a:xfrm>
            <a:off x="12192000" y="-628650"/>
            <a:ext cx="12192000" cy="8128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68" name="Zwei Quallen vor blauem Hintergrund"/>
          <p:cNvSpPr/>
          <p:nvPr>
            <p:ph type="pic" idx="23"/>
          </p:nvPr>
        </p:nvSpPr>
        <p:spPr>
          <a:xfrm>
            <a:off x="-4203700" y="0"/>
            <a:ext cx="20574000" cy="1371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pic>
        <p:nvPicPr>
          <p:cNvPr id="169" name="Home Grafik.svg" descr="Home Grafik.sv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5079" y="105600"/>
            <a:ext cx="5459624" cy="881021"/>
          </a:xfrm>
          <a:prstGeom prst="rect">
            <a:avLst/>
          </a:prstGeom>
          <a:ln w="12700">
            <a:miter lim="400000"/>
          </a:ln>
        </p:spPr>
      </p:pic>
      <p:sp>
        <p:nvSpPr>
          <p:cNvPr id="170" name="Vocs Pouani                                                                                                       Einführung und Vertiefung in Phython"/>
          <p:cNvSpPr txBox="1"/>
          <p:nvPr/>
        </p:nvSpPr>
        <p:spPr>
          <a:xfrm>
            <a:off x="751162" y="13081716"/>
            <a:ext cx="23309155" cy="694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algn="ctr" defTabSz="808990">
              <a:spcBef>
                <a:spcPts val="0"/>
              </a:spcBef>
              <a:defRPr sz="3430">
                <a:solidFill>
                  <a:srgbClr val="929292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Vocs Pouani                                                                                                       Einführung und Vertiefung in Phython</a:t>
            </a:r>
          </a:p>
        </p:txBody>
      </p:sp>
      <p:sp>
        <p:nvSpPr>
          <p:cNvPr id="171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Zwei sich berührende Quallen vor dunkelblauem Hintergrund"/>
          <p:cNvSpPr/>
          <p:nvPr>
            <p:ph type="pic" idx="21"/>
          </p:nvPr>
        </p:nvSpPr>
        <p:spPr>
          <a:xfrm>
            <a:off x="0" y="-1270000"/>
            <a:ext cx="24384000" cy="16256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pic>
        <p:nvPicPr>
          <p:cNvPr id="179" name="Home Grafik.svg" descr="Home Grafik.sv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758" y="72958"/>
            <a:ext cx="5459623" cy="881020"/>
          </a:xfrm>
          <a:prstGeom prst="rect">
            <a:avLst/>
          </a:prstGeom>
          <a:ln w="12700">
            <a:miter lim="400000"/>
          </a:ln>
        </p:spPr>
      </p:pic>
      <p:sp>
        <p:nvSpPr>
          <p:cNvPr id="180" name="Vocs Pouani                                                                                                       Einführung und Vertiefung in Phython"/>
          <p:cNvSpPr txBox="1"/>
          <p:nvPr/>
        </p:nvSpPr>
        <p:spPr>
          <a:xfrm>
            <a:off x="725762" y="13043616"/>
            <a:ext cx="23309155" cy="694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algn="ctr" defTabSz="808990">
              <a:spcBef>
                <a:spcPts val="0"/>
              </a:spcBef>
              <a:defRPr sz="3430">
                <a:solidFill>
                  <a:srgbClr val="929292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Vocs Pouani                                                                                                       Einführung und Vertiefung in Phython</a:t>
            </a:r>
          </a:p>
        </p:txBody>
      </p:sp>
      <p:sp>
        <p:nvSpPr>
          <p:cNvPr id="181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Home Grafik.svg" descr="Home Grafik.sv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758" y="72958"/>
            <a:ext cx="5459623" cy="881020"/>
          </a:xfrm>
          <a:prstGeom prst="rect">
            <a:avLst/>
          </a:prstGeom>
          <a:ln w="12700">
            <a:miter lim="400000"/>
          </a:ln>
        </p:spPr>
      </p:pic>
      <p:sp>
        <p:nvSpPr>
          <p:cNvPr id="189" name="Vocs Pouani                                                                                                       Einführung und Vertiefung in Phython"/>
          <p:cNvSpPr txBox="1"/>
          <p:nvPr/>
        </p:nvSpPr>
        <p:spPr>
          <a:xfrm>
            <a:off x="725762" y="13018216"/>
            <a:ext cx="23309155" cy="694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algn="ctr" defTabSz="808990">
              <a:spcBef>
                <a:spcPts val="0"/>
              </a:spcBef>
              <a:defRPr sz="3430">
                <a:solidFill>
                  <a:srgbClr val="929292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Vocs Pouani                                                                                                       Einführung und Vertiefung in Phython</a:t>
            </a:r>
          </a:p>
        </p:txBody>
      </p:sp>
      <p:sp>
        <p:nvSpPr>
          <p:cNvPr id="190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titel"/>
          <p:cNvSpPr txBox="1"/>
          <p:nvPr>
            <p:ph type="title" hasCustomPrompt="1"/>
          </p:nvPr>
        </p:nvSpPr>
        <p:spPr>
          <a:xfrm>
            <a:off x="1270000" y="812800"/>
            <a:ext cx="21844000" cy="1557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>
            <a:normAutofit fontScale="100000" lnSpcReduction="0"/>
          </a:bodyPr>
          <a:lstStyle/>
          <a:p>
            <a:pPr/>
            <a:r>
              <a:t>Folientitel</a:t>
            </a:r>
          </a:p>
        </p:txBody>
      </p:sp>
      <p:sp>
        <p:nvSpPr>
          <p:cNvPr id="3" name="Textebene 1…"/>
          <p:cNvSpPr txBox="1"/>
          <p:nvPr>
            <p:ph type="body" idx="1" hasCustomPrompt="1"/>
          </p:nvPr>
        </p:nvSpPr>
        <p:spPr>
          <a:xfrm>
            <a:off x="1270000" y="4267200"/>
            <a:ext cx="21844000" cy="8432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Text für Folienpunkt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pic>
        <p:nvPicPr>
          <p:cNvPr id="4" name="Home Grafik.svg" descr="Home Grafik.sv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758" y="72958"/>
            <a:ext cx="5459623" cy="88102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Vocs Pouani                                                                                                       Einführung und Vertiefung in Phython"/>
          <p:cNvSpPr txBox="1"/>
          <p:nvPr/>
        </p:nvSpPr>
        <p:spPr>
          <a:xfrm>
            <a:off x="751162" y="13056316"/>
            <a:ext cx="23309155" cy="694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algn="ctr" defTabSz="808990">
              <a:spcBef>
                <a:spcPts val="0"/>
              </a:spcBef>
              <a:defRPr sz="3430">
                <a:solidFill>
                  <a:srgbClr val="929292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Vocs Pouani                                                                                                       Einführung und Vertiefung in Phython</a:t>
            </a:r>
          </a:p>
        </p:txBody>
      </p:sp>
      <p:sp>
        <p:nvSpPr>
          <p:cNvPr id="6" name="Foliennummer"/>
          <p:cNvSpPr txBox="1"/>
          <p:nvPr>
            <p:ph type="sldNum" sz="quarter" idx="2"/>
          </p:nvPr>
        </p:nvSpPr>
        <p:spPr>
          <a:xfrm>
            <a:off x="11966448" y="13065506"/>
            <a:ext cx="438405" cy="4826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825500">
              <a:spcBef>
                <a:spcPts val="0"/>
              </a:spcBef>
              <a:defRPr sz="2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</p:sldLayoutIdLst>
  <p:transition xmlns:p14="http://schemas.microsoft.com/office/powerpoint/2010/main" spd="med" advClick="1"/>
  <p:txStyles>
    <p:titleStyle>
      <a:lvl1pPr marL="0" marR="0" indent="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252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Avenir Next Demi Bold"/>
        </a:defRPr>
      </a:lvl1pPr>
      <a:lvl2pPr marL="0" marR="0" indent="4572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252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Avenir Next Demi Bold"/>
        </a:defRPr>
      </a:lvl2pPr>
      <a:lvl3pPr marL="0" marR="0" indent="9144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252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Avenir Next Demi Bold"/>
        </a:defRPr>
      </a:lvl3pPr>
      <a:lvl4pPr marL="0" marR="0" indent="13716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252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Avenir Next Demi Bold"/>
        </a:defRPr>
      </a:lvl4pPr>
      <a:lvl5pPr marL="0" marR="0" indent="18288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252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Avenir Next Demi Bold"/>
        </a:defRPr>
      </a:lvl5pPr>
      <a:lvl6pPr marL="0" marR="0" indent="22860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252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Avenir Next Demi Bold"/>
        </a:defRPr>
      </a:lvl6pPr>
      <a:lvl7pPr marL="0" marR="0" indent="27432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252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Avenir Next Demi Bold"/>
        </a:defRPr>
      </a:lvl7pPr>
      <a:lvl8pPr marL="0" marR="0" indent="32004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252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Avenir Next Demi Bold"/>
        </a:defRPr>
      </a:lvl8pPr>
      <a:lvl9pPr marL="0" marR="0" indent="36576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252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Avenir Next Demi Bold"/>
        </a:defRPr>
      </a:lvl9pPr>
    </p:titleStyle>
    <p:bodyStyle>
      <a:lvl1pPr marL="5588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Avenir Next Regular"/>
          <a:ea typeface="Avenir Next Regular"/>
          <a:cs typeface="Avenir Next Regular"/>
          <a:sym typeface="Avenir Next Regular"/>
        </a:defRPr>
      </a:lvl1pPr>
      <a:lvl2pPr marL="11176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Avenir Next Regular"/>
          <a:ea typeface="Avenir Next Regular"/>
          <a:cs typeface="Avenir Next Regular"/>
          <a:sym typeface="Avenir Next Regular"/>
        </a:defRPr>
      </a:lvl2pPr>
      <a:lvl3pPr marL="16764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Avenir Next Regular"/>
          <a:ea typeface="Avenir Next Regular"/>
          <a:cs typeface="Avenir Next Regular"/>
          <a:sym typeface="Avenir Next Regular"/>
        </a:defRPr>
      </a:lvl3pPr>
      <a:lvl4pPr marL="22352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Avenir Next Regular"/>
          <a:ea typeface="Avenir Next Regular"/>
          <a:cs typeface="Avenir Next Regular"/>
          <a:sym typeface="Avenir Next Regular"/>
        </a:defRPr>
      </a:lvl4pPr>
      <a:lvl5pPr marL="27940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Avenir Next Regular"/>
          <a:ea typeface="Avenir Next Regular"/>
          <a:cs typeface="Avenir Next Regular"/>
          <a:sym typeface="Avenir Next Regular"/>
        </a:defRPr>
      </a:lvl5pPr>
      <a:lvl6pPr marL="33528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Avenir Next Regular"/>
          <a:ea typeface="Avenir Next Regular"/>
          <a:cs typeface="Avenir Next Regular"/>
          <a:sym typeface="Avenir Next Regular"/>
        </a:defRPr>
      </a:lvl6pPr>
      <a:lvl7pPr marL="39116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Avenir Next Regular"/>
          <a:ea typeface="Avenir Next Regular"/>
          <a:cs typeface="Avenir Next Regular"/>
          <a:sym typeface="Avenir Next Regular"/>
        </a:defRPr>
      </a:lvl7pPr>
      <a:lvl8pPr marL="44704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Avenir Next Regular"/>
          <a:ea typeface="Avenir Next Regular"/>
          <a:cs typeface="Avenir Next Regular"/>
          <a:sym typeface="Avenir Next Regular"/>
        </a:defRPr>
      </a:lvl8pPr>
      <a:lvl9pPr marL="50292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Avenir Next Regular"/>
          <a:ea typeface="Avenir Next Regular"/>
          <a:cs typeface="Avenir Next Regular"/>
          <a:sym typeface="Avenir Next Regular"/>
        </a:defRPr>
      </a:lvl9pPr>
    </p:bodyStyle>
    <p:other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1pPr>
      <a:lvl2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2pPr>
      <a:lvl3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3pPr>
      <a:lvl4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4pPr>
      <a:lvl5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5pPr>
      <a:lvl6pPr marL="0" marR="0" indent="2286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6pPr>
      <a:lvl7pPr marL="0" marR="0" indent="2743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7pPr>
      <a:lvl8pPr marL="0" marR="0" indent="3200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8pPr>
      <a:lvl9pPr marL="0" marR="0" indent="3657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.jpe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3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4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1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4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7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8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hyperlink" Target="https://scikit-image.org/" TargetMode="External"/><Relationship Id="rId3" Type="http://schemas.openxmlformats.org/officeDocument/2006/relationships/hyperlink" Target="https://scikit-learn.org/" TargetMode="External"/><Relationship Id="rId4" Type="http://schemas.openxmlformats.org/officeDocument/2006/relationships/hyperlink" Target="https://github.com/itsvocs/python-ml-histotexture/tree/main/results/figures" TargetMode="External"/><Relationship Id="rId5" Type="http://schemas.openxmlformats.org/officeDocument/2006/relationships/hyperlink" Target="https://github.com/itsvocs/python-ml-histotexture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Automatische Tumor Klassifikation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2389572">
              <a:defRPr spc="-341" sz="11368">
                <a:gradFill flip="none" rotWithShape="1">
                  <a:gsLst>
                    <a:gs pos="0">
                      <a:schemeClr val="accent2">
                        <a:hueOff val="148287"/>
                        <a:satOff val="4432"/>
                        <a:lumOff val="-15962"/>
                      </a:schemeClr>
                    </a:gs>
                    <a:gs pos="100000">
                      <a:schemeClr val="accent4">
                        <a:hueOff val="475731"/>
                        <a:satOff val="-4338"/>
                        <a:lumOff val="10182"/>
                      </a:schemeClr>
                    </a:gs>
                  </a:gsLst>
                  <a:lin ang="3960000" scaled="0"/>
                </a:gradFill>
              </a:defRPr>
            </a:lvl1pPr>
          </a:lstStyle>
          <a:p>
            <a:pPr/>
            <a:r>
              <a:t>Automatische Tumor Klassifikation</a:t>
            </a:r>
          </a:p>
        </p:txBody>
      </p:sp>
      <p:sp>
        <p:nvSpPr>
          <p:cNvPr id="200" name="Vocs Pouani                                                                                                       Einführung und Vertiefung in Phython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Vocs Pouani                                                                                                       Einführung und Vertiefung in Phython</a:t>
            </a:r>
          </a:p>
        </p:txBody>
      </p:sp>
      <p:sp>
        <p:nvSpPr>
          <p:cNvPr id="201" name="In histopathologischen Bildern mittels Textur Features"/>
          <p:cNvSpPr txBox="1"/>
          <p:nvPr/>
        </p:nvSpPr>
        <p:spPr>
          <a:xfrm>
            <a:off x="3804247" y="6839491"/>
            <a:ext cx="17202985" cy="1316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>
            <a:normAutofit fontScale="100000" lnSpcReduction="0"/>
          </a:bodyPr>
          <a:lstStyle>
            <a:lvl1pPr algn="ctr" defTabSz="825500">
              <a:lnSpc>
                <a:spcPct val="90000"/>
              </a:lnSpc>
              <a:spcBef>
                <a:spcPts val="0"/>
              </a:spcBef>
              <a:defRPr spc="-165" sz="5500">
                <a:gradFill flip="none" rotWithShape="1">
                  <a:gsLst>
                    <a:gs pos="0">
                      <a:srgbClr val="000000"/>
                    </a:gs>
                    <a:gs pos="100000">
                      <a:srgbClr val="929292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Avenir Next Demi Bold"/>
              </a:defRPr>
            </a:lvl1pPr>
          </a:lstStyle>
          <a:p>
            <a:pPr/>
            <a:r>
              <a:t>In histopathologischen Bildern mittels Textur Features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roblemstellung…"/>
          <p:cNvSpPr txBox="1"/>
          <p:nvPr>
            <p:ph type="body" idx="1"/>
          </p:nvPr>
        </p:nvSpPr>
        <p:spPr>
          <a:xfrm>
            <a:off x="1578536" y="3515409"/>
            <a:ext cx="22927466" cy="8041057"/>
          </a:xfrm>
          <a:prstGeom prst="rect">
            <a:avLst/>
          </a:prstGeom>
        </p:spPr>
        <p:txBody>
          <a:bodyPr spcCol="1146373"/>
          <a:lstStyle/>
          <a:p>
            <a:pPr marL="558800" indent="-558800">
              <a:buClr>
                <a:schemeClr val="accent3">
                  <a:hueOff val="-385756"/>
                  <a:satOff val="-32155"/>
                  <a:lumOff val="17967"/>
                </a:schemeClr>
              </a:buClr>
              <a:defRPr sz="3500">
                <a:solidFill>
                  <a:srgbClr val="5E5E5E"/>
                </a:solidFill>
              </a:defRPr>
            </a:pPr>
            <a:r>
              <a:t>Problemstellung </a:t>
            </a:r>
          </a:p>
          <a:p>
            <a:pPr marL="558800" indent="-558800">
              <a:buClr>
                <a:schemeClr val="accent3">
                  <a:hueOff val="-385756"/>
                  <a:satOff val="-32155"/>
                  <a:lumOff val="17967"/>
                </a:schemeClr>
              </a:buClr>
              <a:defRPr sz="3500">
                <a:solidFill>
                  <a:srgbClr val="5E5E5E"/>
                </a:solidFill>
              </a:defRPr>
            </a:pPr>
            <a:r>
              <a:t>Dataset</a:t>
            </a:r>
          </a:p>
          <a:p>
            <a:pPr marL="558800" indent="-558800">
              <a:buClr>
                <a:schemeClr val="accent3">
                  <a:hueOff val="-385756"/>
                  <a:satOff val="-32155"/>
                  <a:lumOff val="17967"/>
                </a:schemeClr>
              </a:buClr>
              <a:defRPr sz="3500">
                <a:solidFill>
                  <a:srgbClr val="5E5E5E"/>
                </a:solidFill>
              </a:defRPr>
            </a:pPr>
            <a:r>
              <a:t>Datenvorbereitung und Farbraum-Analyse </a:t>
            </a:r>
          </a:p>
          <a:p>
            <a:pPr marL="558800" indent="-558800">
              <a:buClr>
                <a:schemeClr val="accent3">
                  <a:hueOff val="-385756"/>
                  <a:satOff val="-32155"/>
                  <a:lumOff val="17967"/>
                </a:schemeClr>
              </a:buClr>
              <a:defRPr sz="3500">
                <a:solidFill>
                  <a:srgbClr val="5E5E5E"/>
                </a:solidFill>
              </a:defRPr>
            </a:pPr>
            <a:r>
              <a:t>Feature Extraktion</a:t>
            </a:r>
          </a:p>
          <a:p>
            <a:pPr marL="558800" indent="-558800">
              <a:buClr>
                <a:schemeClr val="accent3">
                  <a:hueOff val="-385756"/>
                  <a:satOff val="-32155"/>
                  <a:lumOff val="17967"/>
                </a:schemeClr>
              </a:buClr>
              <a:defRPr sz="3500">
                <a:solidFill>
                  <a:srgbClr val="5E5E5E"/>
                </a:solidFill>
              </a:defRPr>
            </a:pPr>
            <a:r>
              <a:t>Statische Analyse </a:t>
            </a:r>
          </a:p>
          <a:p>
            <a:pPr marL="558800" indent="-558800">
              <a:buClr>
                <a:schemeClr val="accent3">
                  <a:hueOff val="-385756"/>
                  <a:satOff val="-32155"/>
                  <a:lumOff val="17967"/>
                </a:schemeClr>
              </a:buClr>
              <a:defRPr sz="3500">
                <a:solidFill>
                  <a:srgbClr val="5E5E5E"/>
                </a:solidFill>
              </a:defRPr>
            </a:pPr>
            <a:r>
              <a:t>Machine Learning </a:t>
            </a:r>
          </a:p>
          <a:p>
            <a:pPr marL="558800" indent="-558800">
              <a:buClr>
                <a:schemeClr val="accent3">
                  <a:hueOff val="-385756"/>
                  <a:satOff val="-32155"/>
                  <a:lumOff val="17967"/>
                </a:schemeClr>
              </a:buClr>
              <a:defRPr sz="3500">
                <a:solidFill>
                  <a:srgbClr val="5E5E5E"/>
                </a:solidFill>
              </a:defRPr>
            </a:pPr>
            <a:r>
              <a:t>Evaluation und Validation des Models </a:t>
            </a:r>
          </a:p>
          <a:p>
            <a:pPr marL="558800" indent="-558800">
              <a:buClr>
                <a:schemeClr val="accent3">
                  <a:hueOff val="-385756"/>
                  <a:satOff val="-32155"/>
                  <a:lumOff val="17967"/>
                </a:schemeClr>
              </a:buClr>
              <a:defRPr sz="3500">
                <a:solidFill>
                  <a:srgbClr val="5E5E5E"/>
                </a:solidFill>
              </a:defRPr>
            </a:pPr>
            <a:r>
              <a:t>Limitation und Verbesserungsvorschläge </a:t>
            </a:r>
          </a:p>
          <a:p>
            <a:pPr marL="558800" indent="-558800">
              <a:buClr>
                <a:schemeClr val="accent3">
                  <a:hueOff val="-385756"/>
                  <a:satOff val="-32155"/>
                  <a:lumOff val="17967"/>
                </a:schemeClr>
              </a:buClr>
              <a:defRPr sz="3500">
                <a:solidFill>
                  <a:srgbClr val="5E5E5E"/>
                </a:solidFill>
              </a:defRPr>
            </a:pPr>
            <a:r>
              <a:t>Fazit</a:t>
            </a:r>
          </a:p>
        </p:txBody>
      </p:sp>
      <p:sp>
        <p:nvSpPr>
          <p:cNvPr id="204" name="Gliederung"/>
          <p:cNvSpPr txBox="1"/>
          <p:nvPr/>
        </p:nvSpPr>
        <p:spPr>
          <a:xfrm>
            <a:off x="852746" y="1707643"/>
            <a:ext cx="3771647" cy="1054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500"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Gliederung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Motivation und Problemstellung"/>
          <p:cNvSpPr txBox="1"/>
          <p:nvPr>
            <p:ph type="title"/>
          </p:nvPr>
        </p:nvSpPr>
        <p:spPr>
          <a:xfrm>
            <a:off x="632527" y="1458324"/>
            <a:ext cx="10033044" cy="1254637"/>
          </a:xfrm>
          <a:prstGeom prst="rect">
            <a:avLst/>
          </a:prstGeom>
        </p:spPr>
        <p:txBody>
          <a:bodyPr/>
          <a:lstStyle>
            <a:lvl1pPr>
              <a:defRPr spc="-165" sz="5500">
                <a:gradFill flip="none" rotWithShape="1">
                  <a:gsLst>
                    <a:gs pos="0">
                      <a:srgbClr val="000000"/>
                    </a:gs>
                    <a:gs pos="100000">
                      <a:srgbClr val="929292"/>
                    </a:gs>
                  </a:gsLst>
                  <a:lin ang="3960000" scaled="0"/>
                </a:gradFill>
              </a:defRPr>
            </a:lvl1pPr>
          </a:lstStyle>
          <a:p>
            <a:pPr/>
            <a:r>
              <a:t>Motivation und Problemstellung</a:t>
            </a:r>
          </a:p>
        </p:txBody>
      </p:sp>
      <p:grpSp>
        <p:nvGrpSpPr>
          <p:cNvPr id="209" name="Gruppieren"/>
          <p:cNvGrpSpPr/>
          <p:nvPr/>
        </p:nvGrpSpPr>
        <p:grpSpPr>
          <a:xfrm>
            <a:off x="15296920" y="4007634"/>
            <a:ext cx="8264568" cy="5048869"/>
            <a:chOff x="0" y="0"/>
            <a:chExt cx="8264566" cy="5048868"/>
          </a:xfrm>
        </p:grpSpPr>
        <p:pic>
          <p:nvPicPr>
            <p:cNvPr id="207" name="Histopathologe.jpeg" descr="Histopathologe.jpe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8264567" cy="464881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08" name="Quelle: Aus google Recherche „Histopathologe“"/>
            <p:cNvSpPr txBox="1"/>
            <p:nvPr/>
          </p:nvSpPr>
          <p:spPr>
            <a:xfrm>
              <a:off x="8246" y="4629768"/>
              <a:ext cx="5106467" cy="419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i="1" sz="1800">
                  <a:solidFill>
                    <a:srgbClr val="929292"/>
                  </a:solidFill>
                </a:defRPr>
              </a:lvl1pPr>
            </a:lstStyle>
            <a:p>
              <a:pPr/>
              <a:r>
                <a:t>Quelle: Aus google Recherche „Histopathologe“</a:t>
              </a:r>
            </a:p>
          </p:txBody>
        </p:sp>
      </p:grpSp>
      <p:sp>
        <p:nvSpPr>
          <p:cNvPr id="210" name="Histopahtologie ist der Goldstandard in Krebsdiagnostik…"/>
          <p:cNvSpPr txBox="1"/>
          <p:nvPr/>
        </p:nvSpPr>
        <p:spPr>
          <a:xfrm>
            <a:off x="1134007" y="3376057"/>
            <a:ext cx="17019825" cy="436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407458" indent="-407458">
              <a:buClr>
                <a:schemeClr val="accent3">
                  <a:hueOff val="-385756"/>
                  <a:satOff val="-32155"/>
                  <a:lumOff val="17967"/>
                </a:schemeClr>
              </a:buClr>
              <a:buSzPct val="100000"/>
              <a:buChar char="•"/>
              <a:defRPr sz="3500">
                <a:solidFill>
                  <a:srgbClr val="5E5E5E"/>
                </a:solidFill>
              </a:defRPr>
            </a:pPr>
            <a:r>
              <a:t>Histopahtologie ist der Goldstandard in Krebsdiagnostik</a:t>
            </a:r>
          </a:p>
          <a:p>
            <a:pPr marL="407458" indent="-407458">
              <a:buClr>
                <a:schemeClr val="accent3">
                  <a:hueOff val="-385756"/>
                  <a:satOff val="-32155"/>
                  <a:lumOff val="17967"/>
                </a:schemeClr>
              </a:buClr>
              <a:buSzPct val="100000"/>
              <a:buChar char="•"/>
              <a:defRPr sz="3500">
                <a:solidFill>
                  <a:srgbClr val="5E5E5E"/>
                </a:solidFill>
              </a:defRPr>
            </a:pPr>
            <a:r>
              <a:t>Pathologen analysieren hunderte Bilder täglich </a:t>
            </a:r>
          </a:p>
          <a:p>
            <a:pPr lvl="1" marL="966258" indent="-407458">
              <a:buClr>
                <a:schemeClr val="accent3">
                  <a:hueOff val="-385756"/>
                  <a:satOff val="-32155"/>
                  <a:lumOff val="17967"/>
                </a:schemeClr>
              </a:buClr>
              <a:buSzPct val="100000"/>
              <a:buChar char="-"/>
              <a:defRPr sz="3500">
                <a:solidFill>
                  <a:srgbClr val="5E5E5E"/>
                </a:solidFill>
              </a:defRPr>
            </a:pPr>
            <a:r>
              <a:t>Zeitaufwändig</a:t>
            </a:r>
          </a:p>
          <a:p>
            <a:pPr lvl="1" marL="966258" indent="-407458">
              <a:buClr>
                <a:schemeClr val="accent3">
                  <a:hueOff val="-385756"/>
                  <a:satOff val="-32155"/>
                  <a:lumOff val="17967"/>
                </a:schemeClr>
              </a:buClr>
              <a:buSzPct val="100000"/>
              <a:buChar char="-"/>
              <a:defRPr sz="3500">
                <a:solidFill>
                  <a:srgbClr val="5E5E5E"/>
                </a:solidFill>
              </a:defRPr>
            </a:pPr>
            <a:r>
              <a:t>Subjektiv </a:t>
            </a:r>
          </a:p>
          <a:p>
            <a:pPr lvl="1" marL="966258" indent="-407458">
              <a:buClr>
                <a:schemeClr val="accent3">
                  <a:hueOff val="-385756"/>
                  <a:satOff val="-32155"/>
                  <a:lumOff val="17967"/>
                </a:schemeClr>
              </a:buClr>
              <a:buSzPct val="100000"/>
              <a:buChar char="-"/>
              <a:defRPr sz="3500">
                <a:solidFill>
                  <a:srgbClr val="5E5E5E"/>
                </a:solidFill>
              </a:defRPr>
            </a:pPr>
            <a:r>
              <a:t>Fehleranfällig </a:t>
            </a:r>
          </a:p>
        </p:txBody>
      </p:sp>
      <p:sp>
        <p:nvSpPr>
          <p:cNvPr id="211" name="Ziel: eine automatische Klassifikation Tumor vs. Normal Gewebe"/>
          <p:cNvSpPr txBox="1"/>
          <p:nvPr/>
        </p:nvSpPr>
        <p:spPr>
          <a:xfrm>
            <a:off x="1134007" y="8695496"/>
            <a:ext cx="17019825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407458" indent="-407458">
              <a:buClr>
                <a:schemeClr val="accent3">
                  <a:hueOff val="-385756"/>
                  <a:satOff val="-32155"/>
                  <a:lumOff val="17967"/>
                </a:schemeClr>
              </a:buClr>
              <a:buSzPct val="100000"/>
              <a:buChar char="•"/>
              <a:defRPr sz="3500">
                <a:solidFill>
                  <a:srgbClr val="5E5E5E"/>
                </a:solidFill>
              </a:defRPr>
            </a:pPr>
            <a:r>
              <a:rPr b="1"/>
              <a:t>Ziel</a:t>
            </a:r>
            <a:r>
              <a:t>:</a:t>
            </a:r>
            <a:r>
              <a:rPr b="1"/>
              <a:t> </a:t>
            </a:r>
            <a:r>
              <a:t>eine automatische Klassifikation Tumor vs. Normal Gewebe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Dataset"/>
          <p:cNvSpPr txBox="1"/>
          <p:nvPr>
            <p:ph type="title"/>
          </p:nvPr>
        </p:nvSpPr>
        <p:spPr>
          <a:xfrm>
            <a:off x="663334" y="1634945"/>
            <a:ext cx="2801074" cy="1086770"/>
          </a:xfrm>
          <a:prstGeom prst="rect">
            <a:avLst/>
          </a:prstGeom>
        </p:spPr>
        <p:txBody>
          <a:bodyPr/>
          <a:lstStyle>
            <a:lvl1pPr>
              <a:defRPr spc="-165" sz="5500">
                <a:gradFill flip="none" rotWithShape="1">
                  <a:gsLst>
                    <a:gs pos="0">
                      <a:srgbClr val="000000"/>
                    </a:gs>
                    <a:gs pos="100000">
                      <a:srgbClr val="929292"/>
                    </a:gs>
                  </a:gsLst>
                  <a:lin ang="3960000" scaled="0"/>
                </a:gradFill>
              </a:defRPr>
            </a:lvl1pPr>
          </a:lstStyle>
          <a:p>
            <a:pPr/>
            <a:r>
              <a:t>Dataset</a:t>
            </a:r>
          </a:p>
        </p:txBody>
      </p:sp>
      <p:sp>
        <p:nvSpPr>
          <p:cNvPr id="214" name="100 Histopathologie-Bilder (512 x 512) px…"/>
          <p:cNvSpPr txBox="1"/>
          <p:nvPr/>
        </p:nvSpPr>
        <p:spPr>
          <a:xfrm>
            <a:off x="1373114" y="3402682"/>
            <a:ext cx="17019825" cy="3454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407458" indent="-407458">
              <a:buClr>
                <a:schemeClr val="accent3">
                  <a:hueOff val="-385756"/>
                  <a:satOff val="-32155"/>
                  <a:lumOff val="17967"/>
                </a:schemeClr>
              </a:buClr>
              <a:buSzPct val="100000"/>
              <a:buChar char="•"/>
              <a:defRPr sz="3500">
                <a:solidFill>
                  <a:srgbClr val="5E5E5E"/>
                </a:solidFill>
              </a:defRPr>
            </a:pPr>
            <a:r>
              <a:t>100 Histopathologie-Bilder (512 x 512) px</a:t>
            </a:r>
          </a:p>
          <a:p>
            <a:pPr marL="407458" indent="-407458">
              <a:buClr>
                <a:schemeClr val="accent3">
                  <a:hueOff val="-385756"/>
                  <a:satOff val="-32155"/>
                  <a:lumOff val="17967"/>
                </a:schemeClr>
              </a:buClr>
              <a:buSzPct val="100000"/>
              <a:buChar char="•"/>
              <a:defRPr sz="3500">
                <a:solidFill>
                  <a:srgbClr val="5E5E5E"/>
                </a:solidFill>
              </a:defRPr>
            </a:pPr>
            <a:r>
              <a:t>H&amp;E Färbung (Hematoxy + Eosin)</a:t>
            </a:r>
          </a:p>
          <a:p>
            <a:pPr marL="407458" indent="-407458">
              <a:buClr>
                <a:schemeClr val="accent3">
                  <a:hueOff val="-385756"/>
                  <a:satOff val="-32155"/>
                  <a:lumOff val="17967"/>
                </a:schemeClr>
              </a:buClr>
              <a:buSzPct val="100000"/>
              <a:buChar char="•"/>
              <a:defRPr sz="3500">
                <a:solidFill>
                  <a:srgbClr val="5E5E5E"/>
                </a:solidFill>
              </a:defRPr>
            </a:pPr>
            <a:r>
              <a:t>Balanciertes Dataset</a:t>
            </a:r>
          </a:p>
          <a:p>
            <a:pPr lvl="1" marL="966258" indent="-407458">
              <a:buClr>
                <a:schemeClr val="accent3">
                  <a:hueOff val="-385756"/>
                  <a:satOff val="-32155"/>
                  <a:lumOff val="17967"/>
                </a:schemeClr>
              </a:buClr>
              <a:buSzPct val="100000"/>
              <a:buChar char="-"/>
              <a:defRPr sz="3500">
                <a:solidFill>
                  <a:srgbClr val="5E5E5E"/>
                </a:solidFill>
              </a:defRPr>
            </a:pPr>
            <a:r>
              <a:t>50 Tumor, 50 Normal</a:t>
            </a:r>
          </a:p>
        </p:txBody>
      </p:sp>
      <p:pic>
        <p:nvPicPr>
          <p:cNvPr id="215" name="Bildschirmfoto 2026-01-27 um 20.28.54.png" descr="Bildschirmfoto 2026-01-27 um 20.28.54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35757" y="7769614"/>
            <a:ext cx="11071507" cy="300131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Was ist ein digitales Bild  ?"/>
          <p:cNvSpPr txBox="1"/>
          <p:nvPr>
            <p:ph type="title"/>
          </p:nvPr>
        </p:nvSpPr>
        <p:spPr>
          <a:xfrm>
            <a:off x="586650" y="1633515"/>
            <a:ext cx="7900394" cy="1011773"/>
          </a:xfrm>
          <a:prstGeom prst="rect">
            <a:avLst/>
          </a:prstGeom>
        </p:spPr>
        <p:txBody>
          <a:bodyPr/>
          <a:lstStyle>
            <a:lvl1pPr defTabSz="792479">
              <a:defRPr spc="-158" sz="5280">
                <a:gradFill flip="none" rotWithShape="1">
                  <a:gsLst>
                    <a:gs pos="0">
                      <a:srgbClr val="000000"/>
                    </a:gs>
                    <a:gs pos="100000">
                      <a:srgbClr val="929292"/>
                    </a:gs>
                  </a:gsLst>
                  <a:lin ang="3960000" scaled="0"/>
                </a:gradFill>
              </a:defRPr>
            </a:lvl1pPr>
          </a:lstStyle>
          <a:p>
            <a:pPr/>
            <a:r>
              <a:t>Was ist ein digitales Bild  ?</a:t>
            </a:r>
          </a:p>
        </p:txBody>
      </p:sp>
      <p:sp>
        <p:nvSpPr>
          <p:cNvPr id="218" name="Ist ein drei dimensionales Array, das Pixel enthält…"/>
          <p:cNvSpPr txBox="1"/>
          <p:nvPr/>
        </p:nvSpPr>
        <p:spPr>
          <a:xfrm>
            <a:off x="1282734" y="3260314"/>
            <a:ext cx="17019826" cy="162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407458" indent="-407458">
              <a:buClr>
                <a:schemeClr val="accent3">
                  <a:hueOff val="-385756"/>
                  <a:satOff val="-32155"/>
                  <a:lumOff val="17967"/>
                </a:schemeClr>
              </a:buClr>
              <a:buSzPct val="100000"/>
              <a:buChar char="•"/>
              <a:defRPr sz="3500">
                <a:solidFill>
                  <a:srgbClr val="5E5E5E"/>
                </a:solidFill>
              </a:defRPr>
            </a:pPr>
            <a:r>
              <a:t>Ist ein drei dimensionales Array, das Pixel enthält </a:t>
            </a:r>
          </a:p>
          <a:p>
            <a:pPr marL="407458" indent="-407458">
              <a:buClr>
                <a:schemeClr val="accent3">
                  <a:hueOff val="-385756"/>
                  <a:satOff val="-32155"/>
                  <a:lumOff val="17967"/>
                </a:schemeClr>
              </a:buClr>
              <a:buSzPct val="100000"/>
              <a:buChar char="•"/>
              <a:defRPr sz="3500">
                <a:solidFill>
                  <a:srgbClr val="5E5E5E"/>
                </a:solidFill>
              </a:defRPr>
            </a:pPr>
            <a:r>
              <a:t>Jeder Pixel hat 3 Werte (R, G, B)</a:t>
            </a:r>
          </a:p>
        </p:txBody>
      </p:sp>
      <p:pic>
        <p:nvPicPr>
          <p:cNvPr id="219" name="01_rgb_channels.png" descr="01_rgb_channels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1711" y="5179081"/>
            <a:ext cx="22868056" cy="617121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02_hsv_channels.png" descr="02_hsv_channels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48501" y="3651765"/>
            <a:ext cx="10409418" cy="9319509"/>
          </a:xfrm>
          <a:prstGeom prst="rect">
            <a:avLst/>
          </a:prstGeom>
          <a:ln w="12700">
            <a:miter lim="400000"/>
          </a:ln>
        </p:spPr>
      </p:pic>
      <p:sp>
        <p:nvSpPr>
          <p:cNvPr id="222" name="Steht für Hue (Farbton), Saturation (Sättigung) und Value (Helligkeit)…"/>
          <p:cNvSpPr txBox="1"/>
          <p:nvPr/>
        </p:nvSpPr>
        <p:spPr>
          <a:xfrm>
            <a:off x="1555046" y="3108967"/>
            <a:ext cx="17019826" cy="2540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407458" indent="-407458">
              <a:buClr>
                <a:schemeClr val="accent3">
                  <a:hueOff val="-385756"/>
                  <a:satOff val="-32155"/>
                  <a:lumOff val="17967"/>
                </a:schemeClr>
              </a:buClr>
              <a:buSzPct val="100000"/>
              <a:buChar char="•"/>
              <a:defRPr sz="3500">
                <a:solidFill>
                  <a:srgbClr val="5E5E5E"/>
                </a:solidFill>
              </a:defRPr>
            </a:pPr>
            <a:r>
              <a:t>Steht für </a:t>
            </a:r>
            <a:r>
              <a:rPr b="1"/>
              <a:t>Hue</a:t>
            </a:r>
            <a:r>
              <a:t> (Farbton), </a:t>
            </a:r>
            <a:r>
              <a:rPr b="1"/>
              <a:t>Saturation</a:t>
            </a:r>
            <a:r>
              <a:t> (Sättigung) und </a:t>
            </a:r>
            <a:r>
              <a:rPr b="1"/>
              <a:t>Value</a:t>
            </a:r>
            <a:r>
              <a:t> (Helligkeit)</a:t>
            </a:r>
          </a:p>
          <a:p>
            <a:pPr marL="407458" indent="-407458">
              <a:buClr>
                <a:schemeClr val="accent3">
                  <a:hueOff val="-385756"/>
                  <a:satOff val="-32155"/>
                  <a:lumOff val="17967"/>
                </a:schemeClr>
              </a:buClr>
              <a:buSzPct val="100000"/>
              <a:buChar char="•"/>
              <a:defRPr sz="3500">
                <a:solidFill>
                  <a:srgbClr val="5E5E5E"/>
                </a:solidFill>
              </a:defRPr>
            </a:pPr>
            <a:r>
              <a:t>Trennt Farbinformationen (H und S) von Helligkeit </a:t>
            </a:r>
          </a:p>
          <a:p>
            <a:pPr marL="407458" indent="-407458">
              <a:buClr>
                <a:schemeClr val="accent3">
                  <a:hueOff val="-385756"/>
                  <a:satOff val="-32155"/>
                  <a:lumOff val="17967"/>
                </a:schemeClr>
              </a:buClr>
              <a:buSzPct val="100000"/>
              <a:buChar char="•"/>
              <a:defRPr sz="3500">
                <a:solidFill>
                  <a:srgbClr val="5E5E5E"/>
                </a:solidFill>
              </a:defRPr>
            </a:pPr>
            <a:r>
              <a:t>Geeignet für die Daten Analyse </a:t>
            </a:r>
          </a:p>
        </p:txBody>
      </p:sp>
      <p:sp>
        <p:nvSpPr>
          <p:cNvPr id="223" name="HSV Konvertierung"/>
          <p:cNvSpPr txBox="1"/>
          <p:nvPr>
            <p:ph type="title"/>
          </p:nvPr>
        </p:nvSpPr>
        <p:spPr>
          <a:xfrm>
            <a:off x="1080118" y="1787614"/>
            <a:ext cx="6145074" cy="1091162"/>
          </a:xfrm>
          <a:prstGeom prst="rect">
            <a:avLst/>
          </a:prstGeom>
        </p:spPr>
        <p:txBody>
          <a:bodyPr/>
          <a:lstStyle>
            <a:lvl1pPr>
              <a:defRPr spc="-165" sz="5500">
                <a:gradFill flip="none" rotWithShape="1">
                  <a:gsLst>
                    <a:gs pos="0">
                      <a:srgbClr val="000000"/>
                    </a:gs>
                    <a:gs pos="100000">
                      <a:srgbClr val="929292"/>
                    </a:gs>
                  </a:gsLst>
                  <a:lin ang="3960000" scaled="0"/>
                </a:gradFill>
              </a:defRPr>
            </a:lvl1pPr>
          </a:lstStyle>
          <a:p>
            <a:pPr/>
            <a:r>
              <a:t>HSV Konvertierung </a:t>
            </a:r>
          </a:p>
        </p:txBody>
      </p:sp>
      <p:sp>
        <p:nvSpPr>
          <p:cNvPr id="224" name="Ermöglicht die Segmentierung spezifische Bereiche (Tumor)…"/>
          <p:cNvSpPr txBox="1"/>
          <p:nvPr/>
        </p:nvSpPr>
        <p:spPr>
          <a:xfrm>
            <a:off x="1730286" y="8230550"/>
            <a:ext cx="10872044" cy="309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407458" indent="-407458">
              <a:buClr>
                <a:schemeClr val="accent3">
                  <a:hueOff val="-385756"/>
                  <a:satOff val="-32155"/>
                  <a:lumOff val="17967"/>
                </a:schemeClr>
              </a:buClr>
              <a:buSzPct val="100000"/>
              <a:buChar char="•"/>
              <a:defRPr sz="3900">
                <a:solidFill>
                  <a:srgbClr val="5E5E5E"/>
                </a:solidFill>
              </a:defRPr>
            </a:pPr>
            <a:r>
              <a:t>Ermöglicht die Segmentierung spezifische Bereiche (Tumor) </a:t>
            </a:r>
          </a:p>
          <a:p>
            <a:pPr marL="407458" indent="-407458">
              <a:buClr>
                <a:schemeClr val="accent3">
                  <a:hueOff val="-385756"/>
                  <a:satOff val="-32155"/>
                  <a:lumOff val="17967"/>
                </a:schemeClr>
              </a:buClr>
              <a:buSzPct val="100000"/>
              <a:buChar char="•"/>
              <a:defRPr sz="3900">
                <a:solidFill>
                  <a:srgbClr val="5E5E5E"/>
                </a:solidFill>
              </a:defRPr>
            </a:pPr>
            <a:r>
              <a:t>Sättigung als Indikator für die Dichte der Färbung </a:t>
            </a:r>
          </a:p>
        </p:txBody>
      </p:sp>
      <p:sp>
        <p:nvSpPr>
          <p:cNvPr id="225" name="Wieso Konvertieren ?"/>
          <p:cNvSpPr txBox="1"/>
          <p:nvPr/>
        </p:nvSpPr>
        <p:spPr>
          <a:xfrm>
            <a:off x="1863791" y="6680696"/>
            <a:ext cx="6077408" cy="939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Wieso Konvertieren 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Kanäle Analyse"/>
          <p:cNvSpPr txBox="1"/>
          <p:nvPr>
            <p:ph type="title"/>
          </p:nvPr>
        </p:nvSpPr>
        <p:spPr>
          <a:xfrm>
            <a:off x="664368" y="1512215"/>
            <a:ext cx="5459624" cy="1068529"/>
          </a:xfrm>
          <a:prstGeom prst="rect">
            <a:avLst/>
          </a:prstGeom>
        </p:spPr>
        <p:txBody>
          <a:bodyPr/>
          <a:lstStyle>
            <a:lvl1pPr>
              <a:defRPr spc="-165" sz="5500">
                <a:gradFill flip="none" rotWithShape="1">
                  <a:gsLst>
                    <a:gs pos="0">
                      <a:srgbClr val="000000"/>
                    </a:gs>
                    <a:gs pos="100000">
                      <a:srgbClr val="929292"/>
                    </a:gs>
                  </a:gsLst>
                  <a:lin ang="3960000" scaled="0"/>
                </a:gradFill>
              </a:defRPr>
            </a:lvl1pPr>
          </a:lstStyle>
          <a:p>
            <a:pPr/>
            <a:r>
              <a:t>Kanäle Analyse </a:t>
            </a:r>
          </a:p>
        </p:txBody>
      </p:sp>
      <p:pic>
        <p:nvPicPr>
          <p:cNvPr id="228" name="03_hsv_histograms.png" descr="03_hsv_histograms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96594" y="7060834"/>
            <a:ext cx="20790812" cy="5502629"/>
          </a:xfrm>
          <a:prstGeom prst="rect">
            <a:avLst/>
          </a:prstGeom>
          <a:ln w="12700">
            <a:miter lim="400000"/>
          </a:ln>
        </p:spPr>
      </p:pic>
      <p:sp>
        <p:nvSpPr>
          <p:cNvPr id="229" name="Die Sättigung zeigt…"/>
          <p:cNvSpPr txBox="1"/>
          <p:nvPr/>
        </p:nvSpPr>
        <p:spPr>
          <a:xfrm>
            <a:off x="1468290" y="3138980"/>
            <a:ext cx="7714194" cy="3454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buClr>
                <a:schemeClr val="accent3">
                  <a:hueOff val="-385756"/>
                  <a:satOff val="-32155"/>
                  <a:lumOff val="17967"/>
                </a:schemeClr>
              </a:buClr>
              <a:defRPr sz="3500">
                <a:solidFill>
                  <a:srgbClr val="5E5E5E"/>
                </a:solidFill>
              </a:defRPr>
            </a:pPr>
            <a:r>
              <a:t>Die </a:t>
            </a:r>
            <a:r>
              <a:rPr>
                <a:latin typeface="+mn-lt"/>
                <a:ea typeface="+mn-ea"/>
                <a:cs typeface="+mn-cs"/>
                <a:sym typeface="Avenir Next Demi Bold"/>
              </a:rPr>
              <a:t>Sättigung</a:t>
            </a:r>
            <a:r>
              <a:t> zeigt </a:t>
            </a:r>
          </a:p>
          <a:p>
            <a:pPr lvl="1" marL="966258" indent="-407458">
              <a:buClr>
                <a:schemeClr val="accent3">
                  <a:hueOff val="-385756"/>
                  <a:satOff val="-32155"/>
                  <a:lumOff val="17967"/>
                </a:schemeClr>
              </a:buClr>
              <a:buSzPct val="100000"/>
              <a:buChar char="•"/>
              <a:defRPr sz="3500">
                <a:solidFill>
                  <a:srgbClr val="5E5E5E"/>
                </a:solidFill>
              </a:defRPr>
            </a:pPr>
            <a:r>
              <a:t>Eine klare Trennung  </a:t>
            </a:r>
          </a:p>
          <a:p>
            <a:pPr lvl="1" marL="966258" indent="-407458">
              <a:buClr>
                <a:schemeClr val="accent3">
                  <a:hueOff val="-385756"/>
                  <a:satOff val="-32155"/>
                  <a:lumOff val="17967"/>
                </a:schemeClr>
              </a:buClr>
              <a:buSzPct val="100000"/>
              <a:buChar char="•"/>
              <a:defRPr sz="3500">
                <a:solidFill>
                  <a:srgbClr val="5E5E5E"/>
                </a:solidFill>
              </a:defRPr>
            </a:pPr>
            <a:r>
              <a:t>Eine Stabilität</a:t>
            </a:r>
          </a:p>
          <a:p>
            <a:pPr lvl="1" marL="966258" indent="-407458">
              <a:buClr>
                <a:schemeClr val="accent3">
                  <a:hueOff val="-385756"/>
                  <a:satOff val="-32155"/>
                  <a:lumOff val="17967"/>
                </a:schemeClr>
              </a:buClr>
              <a:buSzPct val="100000"/>
              <a:buChar char="•"/>
              <a:defRPr sz="3500">
                <a:solidFill>
                  <a:srgbClr val="5E5E5E"/>
                </a:solidFill>
              </a:defRPr>
            </a:pPr>
            <a:r>
              <a:t>Isoliert stark gefärbte Bereiche</a:t>
            </a:r>
          </a:p>
        </p:txBody>
      </p:sp>
      <p:pic>
        <p:nvPicPr>
          <p:cNvPr id="230" name="02b_saturation_detail.png" descr="02b_saturation_detail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376466" y="1854266"/>
            <a:ext cx="10395307" cy="473911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Threshold"/>
          <p:cNvSpPr txBox="1"/>
          <p:nvPr>
            <p:ph type="title"/>
          </p:nvPr>
        </p:nvSpPr>
        <p:spPr>
          <a:xfrm>
            <a:off x="831860" y="1506893"/>
            <a:ext cx="3323781" cy="1116278"/>
          </a:xfrm>
          <a:prstGeom prst="rect">
            <a:avLst/>
          </a:prstGeom>
        </p:spPr>
        <p:txBody>
          <a:bodyPr/>
          <a:lstStyle>
            <a:lvl1pPr>
              <a:defRPr spc="-165" sz="5500">
                <a:gradFill flip="none" rotWithShape="1">
                  <a:gsLst>
                    <a:gs pos="0">
                      <a:srgbClr val="000000"/>
                    </a:gs>
                    <a:gs pos="100000">
                      <a:srgbClr val="929292"/>
                    </a:gs>
                  </a:gsLst>
                  <a:lin ang="3960000" scaled="0"/>
                </a:gradFill>
              </a:defRPr>
            </a:lvl1pPr>
          </a:lstStyle>
          <a:p>
            <a:pPr/>
            <a:r>
              <a:t>Threshold </a:t>
            </a:r>
          </a:p>
        </p:txBody>
      </p:sp>
      <p:sp>
        <p:nvSpPr>
          <p:cNvPr id="233" name="3 Arten von Schwellenwerten…"/>
          <p:cNvSpPr txBox="1"/>
          <p:nvPr/>
        </p:nvSpPr>
        <p:spPr>
          <a:xfrm>
            <a:off x="1211444" y="3176086"/>
            <a:ext cx="10872044" cy="3454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buClr>
                <a:schemeClr val="accent3">
                  <a:hueOff val="-385756"/>
                  <a:satOff val="-32155"/>
                  <a:lumOff val="17967"/>
                </a:schemeClr>
              </a:buClr>
              <a:defRPr sz="3500">
                <a:solidFill>
                  <a:srgbClr val="5E5E5E"/>
                </a:solidFill>
              </a:defRPr>
            </a:pPr>
            <a:r>
              <a:t>3 Arten von Schwellenwerten </a:t>
            </a:r>
          </a:p>
          <a:p>
            <a:pPr lvl="1" marL="966258" indent="-407458">
              <a:buClr>
                <a:schemeClr val="accent3">
                  <a:hueOff val="-385756"/>
                  <a:satOff val="-32155"/>
                  <a:lumOff val="17967"/>
                </a:schemeClr>
              </a:buClr>
              <a:buSzPct val="100000"/>
              <a:buChar char="•"/>
              <a:defRPr sz="3500">
                <a:solidFill>
                  <a:srgbClr val="5E5E5E"/>
                </a:solidFill>
              </a:defRPr>
            </a:pPr>
            <a:r>
              <a:t>Statik </a:t>
            </a:r>
          </a:p>
          <a:p>
            <a:pPr lvl="1" marL="966258" indent="-407458">
              <a:buClr>
                <a:schemeClr val="accent3">
                  <a:hueOff val="-385756"/>
                  <a:satOff val="-32155"/>
                  <a:lumOff val="17967"/>
                </a:schemeClr>
              </a:buClr>
              <a:buSzPct val="100000"/>
              <a:buChar char="•"/>
              <a:defRPr sz="3500">
                <a:solidFill>
                  <a:srgbClr val="5E5E5E"/>
                </a:solidFill>
              </a:defRPr>
            </a:pPr>
            <a:r>
              <a:t>Adaptiv (lokal unterschiedlich)</a:t>
            </a:r>
          </a:p>
          <a:p>
            <a:pPr lvl="1" marL="966258" indent="-407458">
              <a:buClr>
                <a:schemeClr val="accent3">
                  <a:hueOff val="-385756"/>
                  <a:satOff val="-32155"/>
                  <a:lumOff val="17967"/>
                </a:schemeClr>
              </a:buClr>
              <a:buSzPct val="100000"/>
              <a:buChar char="•"/>
              <a:defRPr sz="3500">
                <a:solidFill>
                  <a:srgbClr val="5E5E5E"/>
                </a:solidFill>
              </a:defRPr>
            </a:pPr>
            <a:r>
              <a:t>Automatisch (Scikit-learn Methoden)</a:t>
            </a:r>
          </a:p>
        </p:txBody>
      </p:sp>
      <p:pic>
        <p:nvPicPr>
          <p:cNvPr id="234" name="04_saturation_thresholding.png" descr="04_saturation_thresholding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387800" y="355696"/>
            <a:ext cx="11760286" cy="7740615"/>
          </a:xfrm>
          <a:prstGeom prst="rect">
            <a:avLst/>
          </a:prstGeom>
          <a:ln w="12700">
            <a:miter lim="400000"/>
          </a:ln>
        </p:spPr>
      </p:pic>
      <p:sp>
        <p:nvSpPr>
          <p:cNvPr id="235" name="Threshold Yen weil,…"/>
          <p:cNvSpPr txBox="1"/>
          <p:nvPr/>
        </p:nvSpPr>
        <p:spPr>
          <a:xfrm>
            <a:off x="1211444" y="7406211"/>
            <a:ext cx="10872044" cy="314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buClr>
                <a:schemeClr val="accent3">
                  <a:hueOff val="-385756"/>
                  <a:satOff val="-32155"/>
                  <a:lumOff val="17967"/>
                </a:schemeClr>
              </a:buClr>
              <a:defRPr sz="3500">
                <a:solidFill>
                  <a:srgbClr val="5E5E5E"/>
                </a:solidFill>
              </a:defRPr>
            </a:pPr>
            <a:r>
              <a:rPr b="1"/>
              <a:t>Threshold</a:t>
            </a:r>
            <a:r>
              <a:t> </a:t>
            </a:r>
            <a:r>
              <a:rPr b="1"/>
              <a:t>Yen</a:t>
            </a:r>
            <a:r>
              <a:t> weil, </a:t>
            </a:r>
          </a:p>
          <a:p>
            <a:pPr lvl="1" marL="966258" indent="-407458">
              <a:buClr>
                <a:schemeClr val="accent3">
                  <a:hueOff val="-385756"/>
                  <a:satOff val="-32155"/>
                  <a:lumOff val="17967"/>
                </a:schemeClr>
              </a:buClr>
              <a:buSzPct val="100000"/>
              <a:buChar char="•"/>
              <a:defRPr sz="3500">
                <a:solidFill>
                  <a:srgbClr val="5E5E5E"/>
                </a:solidFill>
              </a:defRPr>
            </a:pPr>
            <a:r>
              <a:t>Automatisch und Adaptiv für jedes Bild</a:t>
            </a:r>
          </a:p>
          <a:p>
            <a:pPr lvl="1" marL="966258" indent="-407458">
              <a:buClr>
                <a:schemeClr val="accent3">
                  <a:hueOff val="-385756"/>
                  <a:satOff val="-32155"/>
                  <a:lumOff val="17967"/>
                </a:schemeClr>
              </a:buClr>
              <a:buSzPct val="100000"/>
              <a:buChar char="•"/>
              <a:defRPr sz="3500">
                <a:solidFill>
                  <a:srgbClr val="5E5E5E"/>
                </a:solidFill>
              </a:defRPr>
            </a:pPr>
            <a:r>
              <a:t>Trennt besser Hintergründe im Vergleich zu Otsu </a:t>
            </a:r>
          </a:p>
        </p:txBody>
      </p:sp>
      <p:pic>
        <p:nvPicPr>
          <p:cNvPr id="236" name="05_masked_tissue.png" descr="05_masked_tissu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175624" y="8677127"/>
            <a:ext cx="12184639" cy="401465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Feature Extrahieren"/>
          <p:cNvSpPr txBox="1"/>
          <p:nvPr>
            <p:ph type="title"/>
          </p:nvPr>
        </p:nvSpPr>
        <p:spPr>
          <a:xfrm>
            <a:off x="668647" y="1504598"/>
            <a:ext cx="6103108" cy="1083763"/>
          </a:xfrm>
          <a:prstGeom prst="rect">
            <a:avLst/>
          </a:prstGeom>
        </p:spPr>
        <p:txBody>
          <a:bodyPr/>
          <a:lstStyle>
            <a:lvl1pPr>
              <a:defRPr spc="-165" sz="5500">
                <a:gradFill flip="none" rotWithShape="1">
                  <a:gsLst>
                    <a:gs pos="0">
                      <a:srgbClr val="000000"/>
                    </a:gs>
                    <a:gs pos="100000">
                      <a:srgbClr val="929292"/>
                    </a:gs>
                  </a:gsLst>
                  <a:lin ang="3960000" scaled="0"/>
                </a:gradFill>
              </a:defRPr>
            </a:lvl1pPr>
          </a:lstStyle>
          <a:p>
            <a:pPr/>
            <a:r>
              <a:t>Feature Extrahieren  </a:t>
            </a:r>
          </a:p>
        </p:txBody>
      </p:sp>
      <p:pic>
        <p:nvPicPr>
          <p:cNvPr id="239" name="07_features_comparison_boxplot.png" descr="07_features_comparison_boxplot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239526" y="1818688"/>
            <a:ext cx="15155611" cy="5212499"/>
          </a:xfrm>
          <a:prstGeom prst="rect">
            <a:avLst/>
          </a:prstGeom>
          <a:ln w="12700">
            <a:miter lim="400000"/>
          </a:ln>
        </p:spPr>
      </p:pic>
      <p:sp>
        <p:nvSpPr>
          <p:cNvPr id="240" name="3 Texture-Features auf Gewebe:…"/>
          <p:cNvSpPr txBox="1"/>
          <p:nvPr/>
        </p:nvSpPr>
        <p:spPr>
          <a:xfrm>
            <a:off x="942586" y="3138980"/>
            <a:ext cx="8998768" cy="3454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buClr>
                <a:schemeClr val="accent3">
                  <a:hueOff val="-385756"/>
                  <a:satOff val="-32155"/>
                  <a:lumOff val="17967"/>
                </a:schemeClr>
              </a:buClr>
              <a:defRPr sz="3500">
                <a:solidFill>
                  <a:srgbClr val="5E5E5E"/>
                </a:solidFill>
              </a:defRPr>
            </a:pPr>
            <a:r>
              <a:t>3 Texture-Features auf Gewebe:</a:t>
            </a:r>
          </a:p>
          <a:p>
            <a:pPr lvl="1" marL="966258" indent="-407458">
              <a:buClr>
                <a:schemeClr val="accent3">
                  <a:hueOff val="-385756"/>
                  <a:satOff val="-32155"/>
                  <a:lumOff val="17967"/>
                </a:schemeClr>
              </a:buClr>
              <a:buSzPct val="100000"/>
              <a:buChar char="•"/>
              <a:defRPr sz="3500">
                <a:solidFill>
                  <a:srgbClr val="5E5E5E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Avenir Next Demi Bold"/>
              </a:rPr>
              <a:t>Entropie</a:t>
            </a:r>
            <a:r>
              <a:t>: Textur Komplexität</a:t>
            </a:r>
          </a:p>
          <a:p>
            <a:pPr lvl="1" marL="966258" indent="-407458">
              <a:buClr>
                <a:schemeClr val="accent3">
                  <a:hueOff val="-385756"/>
                  <a:satOff val="-32155"/>
                  <a:lumOff val="17967"/>
                </a:schemeClr>
              </a:buClr>
              <a:buSzPct val="100000"/>
              <a:buChar char="•"/>
              <a:defRPr sz="3500">
                <a:solidFill>
                  <a:srgbClr val="5E5E5E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Avenir Next Demi Bold"/>
              </a:rPr>
              <a:t>Varianz</a:t>
            </a:r>
            <a:r>
              <a:t>:  Intensität Schwankungen </a:t>
            </a:r>
          </a:p>
          <a:p>
            <a:pPr lvl="1" marL="966258" indent="-407458">
              <a:buClr>
                <a:schemeClr val="accent3">
                  <a:hueOff val="-385756"/>
                  <a:satOff val="-32155"/>
                  <a:lumOff val="17967"/>
                </a:schemeClr>
              </a:buClr>
              <a:buSzPct val="100000"/>
              <a:buChar char="•"/>
              <a:defRPr sz="3500">
                <a:solidFill>
                  <a:srgbClr val="5E5E5E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Avenir Next Demi Bold"/>
              </a:rPr>
              <a:t>Median</a:t>
            </a:r>
            <a:r>
              <a:t>: zentrale Helligkeit</a:t>
            </a:r>
          </a:p>
        </p:txBody>
      </p:sp>
      <p:sp>
        <p:nvSpPr>
          <p:cNvPr id="241" name="Warum diese Features ?…"/>
          <p:cNvSpPr txBox="1"/>
          <p:nvPr/>
        </p:nvSpPr>
        <p:spPr>
          <a:xfrm>
            <a:off x="942586" y="7144001"/>
            <a:ext cx="8998768" cy="175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buClr>
                <a:schemeClr val="accent3">
                  <a:hueOff val="-385756"/>
                  <a:satOff val="-32155"/>
                  <a:lumOff val="17967"/>
                </a:schemeClr>
              </a:buClr>
              <a:defRPr sz="3900"/>
            </a:lvl1pPr>
            <a:lvl2pPr marL="966258" indent="-407458">
              <a:buClr>
                <a:schemeClr val="accent3">
                  <a:hueOff val="-385756"/>
                  <a:satOff val="-32155"/>
                  <a:lumOff val="17967"/>
                </a:schemeClr>
              </a:buClr>
              <a:buSzPct val="100000"/>
              <a:buChar char="•"/>
              <a:defRPr sz="3900">
                <a:solidFill>
                  <a:srgbClr val="5E5E5E"/>
                </a:solidFill>
              </a:defRPr>
            </a:lvl2pPr>
          </a:lstStyle>
          <a:p>
            <a:pPr/>
            <a:r>
              <a:t>Warum diese Features ?</a:t>
            </a:r>
          </a:p>
          <a:p>
            <a:pPr lvl="1"/>
            <a:r>
              <a:t>Tumor zeigt chaotische Struktur</a:t>
            </a:r>
          </a:p>
        </p:txBody>
      </p:sp>
      <p:pic>
        <p:nvPicPr>
          <p:cNvPr id="242" name="09_feature_relationships.png" descr="09_feature_relationships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379448" y="7805634"/>
            <a:ext cx="15155611" cy="417287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Statistische Analyse"/>
          <p:cNvSpPr txBox="1"/>
          <p:nvPr>
            <p:ph type="title"/>
          </p:nvPr>
        </p:nvSpPr>
        <p:spPr>
          <a:xfrm>
            <a:off x="733932" y="1510208"/>
            <a:ext cx="6168266" cy="1316596"/>
          </a:xfrm>
          <a:prstGeom prst="rect">
            <a:avLst/>
          </a:prstGeom>
        </p:spPr>
        <p:txBody>
          <a:bodyPr/>
          <a:lstStyle>
            <a:lvl1pPr>
              <a:defRPr spc="-165" sz="5500">
                <a:gradFill flip="none" rotWithShape="1">
                  <a:gsLst>
                    <a:gs pos="0">
                      <a:srgbClr val="000000"/>
                    </a:gs>
                    <a:gs pos="100000">
                      <a:srgbClr val="929292"/>
                    </a:gs>
                  </a:gsLst>
                  <a:lin ang="3960000" scaled="0"/>
                </a:gradFill>
              </a:defRPr>
            </a:lvl1pPr>
          </a:lstStyle>
          <a:p>
            <a:pPr/>
            <a:r>
              <a:t>Statistische Analyse </a:t>
            </a:r>
          </a:p>
        </p:txBody>
      </p:sp>
      <p:sp>
        <p:nvSpPr>
          <p:cNvPr id="245" name="Tumor zeigt höhere Entropie…"/>
          <p:cNvSpPr txBox="1"/>
          <p:nvPr/>
        </p:nvSpPr>
        <p:spPr>
          <a:xfrm>
            <a:off x="1357283" y="3367427"/>
            <a:ext cx="10169293" cy="162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lvl="1" marL="966258" indent="-407458">
              <a:buClr>
                <a:schemeClr val="accent3">
                  <a:hueOff val="-385756"/>
                  <a:satOff val="-32155"/>
                  <a:lumOff val="17967"/>
                </a:schemeClr>
              </a:buClr>
              <a:buSzPct val="100000"/>
              <a:buChar char="•"/>
              <a:defRPr sz="3500">
                <a:solidFill>
                  <a:srgbClr val="5E5E5E"/>
                </a:solidFill>
              </a:defRPr>
            </a:pPr>
            <a:r>
              <a:t>Tumor zeigt höhere Entropie </a:t>
            </a:r>
          </a:p>
          <a:p>
            <a:pPr lvl="1" marL="966258" indent="-407458">
              <a:buClr>
                <a:schemeClr val="accent3">
                  <a:hueOff val="-385756"/>
                  <a:satOff val="-32155"/>
                  <a:lumOff val="17967"/>
                </a:schemeClr>
              </a:buClr>
              <a:buSzPct val="100000"/>
              <a:buChar char="•"/>
              <a:defRPr sz="3500">
                <a:solidFill>
                  <a:srgbClr val="5E5E5E"/>
                </a:solidFill>
              </a:defRPr>
            </a:pPr>
            <a:r>
              <a:t>Aber eine starke überlappung </a:t>
            </a:r>
          </a:p>
        </p:txBody>
      </p:sp>
      <p:pic>
        <p:nvPicPr>
          <p:cNvPr id="246" name="13_all_features_histograms.png" descr="13_all_features_histograms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99520" y="5350829"/>
            <a:ext cx="21584960" cy="669097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Statistische Analyse"/>
          <p:cNvSpPr txBox="1"/>
          <p:nvPr>
            <p:ph type="title"/>
          </p:nvPr>
        </p:nvSpPr>
        <p:spPr>
          <a:xfrm>
            <a:off x="668647" y="1504279"/>
            <a:ext cx="6142382" cy="1084400"/>
          </a:xfrm>
          <a:prstGeom prst="rect">
            <a:avLst/>
          </a:prstGeom>
        </p:spPr>
        <p:txBody>
          <a:bodyPr/>
          <a:lstStyle>
            <a:lvl1pPr>
              <a:defRPr spc="-165" sz="5500">
                <a:gradFill flip="none" rotWithShape="1">
                  <a:gsLst>
                    <a:gs pos="0">
                      <a:srgbClr val="000000"/>
                    </a:gs>
                    <a:gs pos="100000">
                      <a:srgbClr val="929292"/>
                    </a:gs>
                  </a:gsLst>
                  <a:lin ang="3960000" scaled="0"/>
                </a:gradFill>
              </a:defRPr>
            </a:lvl1pPr>
          </a:lstStyle>
          <a:p>
            <a:pPr/>
            <a:r>
              <a:t>Statistische Analyse </a:t>
            </a:r>
          </a:p>
        </p:txBody>
      </p:sp>
      <p:sp>
        <p:nvSpPr>
          <p:cNvPr id="249" name="Features sind unabhängig ! (0,1 bis 0,4)"/>
          <p:cNvSpPr txBox="1"/>
          <p:nvPr/>
        </p:nvSpPr>
        <p:spPr>
          <a:xfrm>
            <a:off x="1003502" y="2925307"/>
            <a:ext cx="9151316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lvl="1" marL="966258" indent="-407458">
              <a:buClr>
                <a:schemeClr val="accent3">
                  <a:hueOff val="-385756"/>
                  <a:satOff val="-32155"/>
                  <a:lumOff val="17967"/>
                </a:schemeClr>
              </a:buClr>
              <a:buSzPct val="100000"/>
              <a:buChar char="•"/>
              <a:defRPr sz="3500">
                <a:solidFill>
                  <a:srgbClr val="5E5E5E"/>
                </a:solidFill>
              </a:defRPr>
            </a:pPr>
            <a:r>
              <a:t>Features sind </a:t>
            </a:r>
            <a:r>
              <a:rPr>
                <a:latin typeface="+mn-lt"/>
                <a:ea typeface="+mn-ea"/>
                <a:cs typeface="+mn-cs"/>
                <a:sym typeface="Avenir Next Demi Bold"/>
              </a:rPr>
              <a:t>unabhängig !</a:t>
            </a:r>
            <a:r>
              <a:t> (0,1 bis 0,4)</a:t>
            </a:r>
          </a:p>
        </p:txBody>
      </p:sp>
      <p:pic>
        <p:nvPicPr>
          <p:cNvPr id="250" name="11_correlation_heatmap.png" descr="11_correlation_heatmap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80442" y="5281410"/>
            <a:ext cx="8231828" cy="6978129"/>
          </a:xfrm>
          <a:prstGeom prst="rect">
            <a:avLst/>
          </a:prstGeom>
          <a:ln w="12700">
            <a:miter lim="400000"/>
          </a:ln>
        </p:spPr>
      </p:pic>
      <p:pic>
        <p:nvPicPr>
          <p:cNvPr id="251" name="12_image_comparison_with_entropy.png" descr="12_image_comparison_with_entropy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458076" y="4299047"/>
            <a:ext cx="15033981" cy="779312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Machine Learning"/>
          <p:cNvSpPr txBox="1"/>
          <p:nvPr>
            <p:ph type="title"/>
          </p:nvPr>
        </p:nvSpPr>
        <p:spPr>
          <a:xfrm>
            <a:off x="1076679" y="1593345"/>
            <a:ext cx="5917645" cy="1134320"/>
          </a:xfrm>
          <a:prstGeom prst="rect">
            <a:avLst/>
          </a:prstGeom>
        </p:spPr>
        <p:txBody>
          <a:bodyPr/>
          <a:lstStyle>
            <a:lvl1pPr>
              <a:defRPr spc="-165" sz="5500">
                <a:gradFill flip="none" rotWithShape="1">
                  <a:gsLst>
                    <a:gs pos="0">
                      <a:srgbClr val="000000"/>
                    </a:gs>
                    <a:gs pos="100000">
                      <a:srgbClr val="929292"/>
                    </a:gs>
                  </a:gsLst>
                  <a:lin ang="3960000" scaled="0"/>
                </a:gradFill>
              </a:defRPr>
            </a:lvl1pPr>
          </a:lstStyle>
          <a:p>
            <a:pPr/>
            <a:r>
              <a:t>Machine Learning </a:t>
            </a:r>
          </a:p>
        </p:txBody>
      </p:sp>
      <p:sp>
        <p:nvSpPr>
          <p:cNvPr id="254" name="100 Daten + gemergete Features…"/>
          <p:cNvSpPr txBox="1"/>
          <p:nvPr/>
        </p:nvSpPr>
        <p:spPr>
          <a:xfrm>
            <a:off x="1404246" y="3240795"/>
            <a:ext cx="15595585" cy="6197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lvl="1" marL="966258" indent="-407458">
              <a:buClr>
                <a:schemeClr val="accent3">
                  <a:hueOff val="-385756"/>
                  <a:satOff val="-32155"/>
                  <a:lumOff val="17967"/>
                </a:schemeClr>
              </a:buClr>
              <a:buSzPct val="100000"/>
              <a:buChar char="•"/>
              <a:defRPr sz="3500">
                <a:solidFill>
                  <a:srgbClr val="5E5E5E"/>
                </a:solidFill>
              </a:defRPr>
            </a:pPr>
            <a:r>
              <a:t>100 Daten + gemergete Features </a:t>
            </a:r>
          </a:p>
          <a:p>
            <a:pPr lvl="1" marL="966258" indent="-407458">
              <a:buClr>
                <a:schemeClr val="accent3">
                  <a:hueOff val="-385756"/>
                  <a:satOff val="-32155"/>
                  <a:lumOff val="17967"/>
                </a:schemeClr>
              </a:buClr>
              <a:buSzPct val="100000"/>
              <a:buChar char="•"/>
              <a:defRPr sz="3500">
                <a:solidFill>
                  <a:srgbClr val="5E5E5E"/>
                </a:solidFill>
              </a:defRPr>
            </a:pPr>
            <a:r>
              <a:t>Auf X-Achse </a:t>
            </a:r>
          </a:p>
          <a:p>
            <a:pPr lvl="2" marL="1525058" indent="-407458">
              <a:buClr>
                <a:schemeClr val="accent3">
                  <a:hueOff val="-385756"/>
                  <a:satOff val="-32155"/>
                  <a:lumOff val="17967"/>
                </a:schemeClr>
              </a:buClr>
              <a:buSzPct val="100000"/>
              <a:buChar char="-"/>
              <a:defRPr sz="3500">
                <a:solidFill>
                  <a:srgbClr val="5E5E5E"/>
                </a:solidFill>
              </a:defRPr>
            </a:pPr>
            <a:r>
              <a:t>Features: </a:t>
            </a:r>
            <a:r>
              <a:t>feature_columns </a:t>
            </a:r>
            <a:r>
              <a:rPr>
                <a:solidFill>
                  <a:srgbClr val="D4D4D4"/>
                </a:solidFill>
              </a:rPr>
              <a:t>=</a:t>
            </a:r>
            <a:r>
              <a:t> [</a:t>
            </a:r>
            <a:r>
              <a:rPr>
                <a:solidFill>
                  <a:srgbClr val="CEE397"/>
                </a:solidFill>
              </a:rPr>
              <a:t>'entropy'</a:t>
            </a:r>
            <a:r>
              <a:t>, </a:t>
            </a:r>
            <a:r>
              <a:rPr>
                <a:solidFill>
                  <a:srgbClr val="CEE397"/>
                </a:solidFill>
              </a:rPr>
              <a:t>'variance'</a:t>
            </a:r>
            <a:r>
              <a:t>, </a:t>
            </a:r>
            <a:r>
              <a:rPr>
                <a:solidFill>
                  <a:srgbClr val="CEE397"/>
                </a:solidFill>
              </a:rPr>
              <a:t>‚median'</a:t>
            </a:r>
            <a:r>
              <a:t>]</a:t>
            </a:r>
          </a:p>
          <a:p>
            <a:pPr lvl="2" marL="1525058" indent="-407458">
              <a:buClr>
                <a:schemeClr val="accent3">
                  <a:hueOff val="-385756"/>
                  <a:satOff val="-32155"/>
                  <a:lumOff val="17967"/>
                </a:schemeClr>
              </a:buClr>
              <a:buSzPct val="100000"/>
              <a:buChar char="-"/>
              <a:defRPr i="1" sz="3500">
                <a:solidFill>
                  <a:srgbClr val="5E5E5E"/>
                </a:solidFill>
              </a:defRPr>
            </a:pPr>
            <a:r>
              <a:t>X </a:t>
            </a:r>
            <a:r>
              <a:rPr>
                <a:solidFill>
                  <a:srgbClr val="D4D4D4"/>
                </a:solidFill>
              </a:rPr>
              <a:t>=</a:t>
            </a:r>
            <a:r>
              <a:t> df[feature_columns].</a:t>
            </a:r>
            <a:r>
              <a:rPr>
                <a:solidFill>
                  <a:srgbClr val="325E2C"/>
                </a:solidFill>
              </a:rPr>
              <a:t>values</a:t>
            </a:r>
          </a:p>
          <a:p>
            <a:pPr lvl="1" marL="966258" indent="-407458">
              <a:buClr>
                <a:schemeClr val="accent3">
                  <a:hueOff val="-385756"/>
                  <a:satOff val="-32155"/>
                  <a:lumOff val="17967"/>
                </a:schemeClr>
              </a:buClr>
              <a:buSzPct val="100000"/>
              <a:buChar char="•"/>
              <a:defRPr sz="3500">
                <a:solidFill>
                  <a:srgbClr val="5E5E5E"/>
                </a:solidFill>
              </a:defRPr>
            </a:pPr>
            <a:r>
              <a:t>Auf Y-Achse </a:t>
            </a:r>
          </a:p>
          <a:p>
            <a:pPr lvl="2" marL="1525058" indent="-407458">
              <a:buClr>
                <a:schemeClr val="accent3">
                  <a:hueOff val="-385756"/>
                  <a:satOff val="-32155"/>
                  <a:lumOff val="17967"/>
                </a:schemeClr>
              </a:buClr>
              <a:buSzPct val="100000"/>
              <a:buChar char="-"/>
              <a:defRPr sz="3500">
                <a:solidFill>
                  <a:srgbClr val="5E5E5E"/>
                </a:solidFill>
              </a:defRPr>
            </a:pPr>
            <a:r>
              <a:t>Label_is_malignant :</a:t>
            </a:r>
            <a:r>
              <a:t> 0 = Normal, 1 = Tumor</a:t>
            </a:r>
          </a:p>
          <a:p>
            <a:pPr lvl="2" marL="1525058" indent="-407458">
              <a:buClr>
                <a:schemeClr val="accent3">
                  <a:hueOff val="-385756"/>
                  <a:satOff val="-32155"/>
                  <a:lumOff val="17967"/>
                </a:schemeClr>
              </a:buClr>
              <a:buSzPct val="100000"/>
              <a:buChar char="-"/>
              <a:defRPr sz="3500">
                <a:solidFill>
                  <a:srgbClr val="5E5E5E"/>
                </a:solidFill>
              </a:defRPr>
            </a:pPr>
            <a:r>
              <a:t>Y</a:t>
            </a:r>
            <a:r>
              <a:rPr>
                <a:solidFill>
                  <a:srgbClr val="BFD4E1"/>
                </a:solidFill>
              </a:rPr>
              <a:t> </a:t>
            </a:r>
            <a:r>
              <a:rPr>
                <a:solidFill>
                  <a:srgbClr val="D4D4D4"/>
                </a:solidFill>
              </a:rPr>
              <a:t>=</a:t>
            </a:r>
            <a:r>
              <a:rPr>
                <a:solidFill>
                  <a:srgbClr val="BFD4E1"/>
                </a:solidFill>
              </a:rPr>
              <a:t> df[</a:t>
            </a:r>
            <a:r>
              <a:t>‚label_is_malignant'</a:t>
            </a:r>
            <a:r>
              <a:rPr>
                <a:solidFill>
                  <a:srgbClr val="BFD4E1"/>
                </a:solidFill>
              </a:rPr>
              <a:t>].values</a:t>
            </a:r>
          </a:p>
        </p:txBody>
      </p:sp>
      <p:grpSp>
        <p:nvGrpSpPr>
          <p:cNvPr id="257" name="Gruppieren"/>
          <p:cNvGrpSpPr/>
          <p:nvPr/>
        </p:nvGrpSpPr>
        <p:grpSpPr>
          <a:xfrm>
            <a:off x="15349238" y="7891297"/>
            <a:ext cx="6735866" cy="4955746"/>
            <a:chOff x="0" y="0"/>
            <a:chExt cx="6735865" cy="4955745"/>
          </a:xfrm>
        </p:grpSpPr>
        <p:sp>
          <p:nvSpPr>
            <p:cNvPr id="255" name="[[1.22885686e+01 6.07934900e-03 3.38605098e-01]…"/>
            <p:cNvSpPr txBox="1"/>
            <p:nvPr/>
          </p:nvSpPr>
          <p:spPr>
            <a:xfrm>
              <a:off x="0" y="890145"/>
              <a:ext cx="6735866" cy="4065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000"/>
              </a:pPr>
              <a:r>
                <a:t>[[1.22885686e+01 6.07934900e-03 3.38605098e-01]</a:t>
              </a:r>
            </a:p>
            <a:p>
              <a:pPr>
                <a:defRPr sz="2000"/>
              </a:pPr>
              <a:r>
                <a:t> [1.20484731e+01 2.69115351e-03 4.98107451e-01]</a:t>
              </a:r>
            </a:p>
            <a:p>
              <a:pPr>
                <a:defRPr sz="2000"/>
              </a:pPr>
              <a:r>
                <a:t> [1.12518875e+01 3.37350965e-03 4.88738824e-01]</a:t>
              </a:r>
            </a:p>
            <a:p>
              <a:pPr>
                <a:defRPr sz="2000"/>
              </a:pPr>
              <a:r>
                <a:t> [1.41730416e+01 6.69859096e-03 3.85998431e-01]</a:t>
              </a:r>
            </a:p>
            <a:p>
              <a:pPr>
                <a:defRPr sz="2000"/>
              </a:pPr>
              <a:r>
                <a:t> [1.15018719e+01 2.07247669e-03 4.87090588e-01]]</a:t>
              </a:r>
            </a:p>
            <a:p>
              <a:pPr>
                <a:defRPr sz="2000"/>
              </a:pPr>
              <a:r>
                <a:t>[1 1 0 1 0 0 0 1 1 0]</a:t>
              </a:r>
            </a:p>
          </p:txBody>
        </p:sp>
        <p:sp>
          <p:nvSpPr>
            <p:cNvPr id="256" name="print(X[:5])…"/>
            <p:cNvSpPr txBox="1"/>
            <p:nvPr/>
          </p:nvSpPr>
          <p:spPr>
            <a:xfrm>
              <a:off x="43347" y="-1"/>
              <a:ext cx="2120152" cy="112154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57200">
                <a:spcBef>
                  <a:spcPts val="0"/>
                </a:spcBef>
                <a:defRPr sz="2000">
                  <a:solidFill>
                    <a:srgbClr val="E9AEBA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print</a:t>
              </a:r>
              <a:r>
                <a:rPr>
                  <a:solidFill>
                    <a:srgbClr val="BFD4E1"/>
                  </a:solidFill>
                </a:rPr>
                <a:t>(X[:</a:t>
              </a:r>
              <a:r>
                <a:rPr>
                  <a:solidFill>
                    <a:srgbClr val="B5CEA8"/>
                  </a:solidFill>
                </a:rPr>
                <a:t>5</a:t>
              </a:r>
              <a:r>
                <a:rPr>
                  <a:solidFill>
                    <a:srgbClr val="BFD4E1"/>
                  </a:solidFill>
                </a:rPr>
                <a:t>])</a:t>
              </a:r>
              <a:endParaRPr>
                <a:solidFill>
                  <a:srgbClr val="BFD4E1"/>
                </a:solidFill>
              </a:endParaRPr>
            </a:p>
            <a:p>
              <a:pPr defTabSz="457200">
                <a:spcBef>
                  <a:spcPts val="0"/>
                </a:spcBef>
                <a:defRPr sz="2000">
                  <a:solidFill>
                    <a:srgbClr val="E9AEBA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print</a:t>
              </a:r>
              <a:r>
                <a:rPr>
                  <a:solidFill>
                    <a:srgbClr val="BFD4E1"/>
                  </a:solidFill>
                </a:rPr>
                <a:t>(y[:</a:t>
              </a:r>
              <a:r>
                <a:rPr>
                  <a:solidFill>
                    <a:srgbClr val="B5CEA8"/>
                  </a:solidFill>
                </a:rPr>
                <a:t>10</a:t>
              </a:r>
              <a:r>
                <a:rPr>
                  <a:solidFill>
                    <a:srgbClr val="BFD4E1"/>
                  </a:solidFill>
                </a:rPr>
                <a:t>])</a:t>
              </a:r>
              <a:endParaRPr>
                <a:solidFill>
                  <a:srgbClr val="BFD4E1"/>
                </a:solidFill>
              </a:endParaRPr>
            </a:p>
          </p:txBody>
        </p:sp>
      </p:grpSp>
      <p:grpSp>
        <p:nvGrpSpPr>
          <p:cNvPr id="262" name="Gruppieren"/>
          <p:cNvGrpSpPr/>
          <p:nvPr/>
        </p:nvGrpSpPr>
        <p:grpSpPr>
          <a:xfrm>
            <a:off x="10306484" y="564965"/>
            <a:ext cx="14810101" cy="4424076"/>
            <a:chOff x="0" y="0"/>
            <a:chExt cx="14810100" cy="4424074"/>
          </a:xfrm>
        </p:grpSpPr>
        <p:pic>
          <p:nvPicPr>
            <p:cNvPr id="258" name="Bildschirmfoto 2026-01-29 um 09.51.10.png" descr="Bildschirmfoto 2026-01-29 um 09.51.10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750819"/>
              <a:ext cx="14810101" cy="367325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261" name="Gruppieren"/>
            <p:cNvGrpSpPr/>
            <p:nvPr/>
          </p:nvGrpSpPr>
          <p:grpSpPr>
            <a:xfrm>
              <a:off x="27392" y="0"/>
              <a:ext cx="9434848" cy="1131539"/>
              <a:chOff x="0" y="0"/>
              <a:chExt cx="9434846" cy="1131538"/>
            </a:xfrm>
          </p:grpSpPr>
          <p:sp>
            <p:nvSpPr>
              <p:cNvPr id="259" name="df = pd.read_csv(PROCESSED_DIR / 'features_with_labels.csv')"/>
              <p:cNvSpPr txBox="1"/>
              <p:nvPr/>
            </p:nvSpPr>
            <p:spPr>
              <a:xfrm>
                <a:off x="0" y="0"/>
                <a:ext cx="9434847" cy="71561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457200">
                  <a:spcBef>
                    <a:spcPts val="0"/>
                  </a:spcBef>
                  <a:defRPr sz="1800">
                    <a:solidFill>
                      <a:srgbClr val="BFD4E1"/>
                    </a:solidFill>
                    <a:latin typeface="Menlo Regular"/>
                    <a:ea typeface="Menlo Regular"/>
                    <a:cs typeface="Menlo Regular"/>
                    <a:sym typeface="Menlo Regular"/>
                  </a:defRPr>
                </a:pPr>
                <a:r>
                  <a:t>df </a:t>
                </a:r>
                <a:r>
                  <a:rPr>
                    <a:solidFill>
                      <a:srgbClr val="D4D4D4"/>
                    </a:solidFill>
                  </a:rPr>
                  <a:t>=</a:t>
                </a:r>
                <a:r>
                  <a:t> pd.read_csv(PROCESSED_DIR </a:t>
                </a:r>
                <a:r>
                  <a:rPr>
                    <a:solidFill>
                      <a:srgbClr val="D4D4D4"/>
                    </a:solidFill>
                  </a:rPr>
                  <a:t>/</a:t>
                </a:r>
                <a:r>
                  <a:t> </a:t>
                </a:r>
                <a:r>
                  <a:rPr>
                    <a:solidFill>
                      <a:srgbClr val="CEE397"/>
                    </a:solidFill>
                  </a:rPr>
                  <a:t>'features_with_labels.csv'</a:t>
                </a:r>
                <a:r>
                  <a:t>)</a:t>
                </a:r>
              </a:p>
            </p:txBody>
          </p:sp>
          <p:sp>
            <p:nvSpPr>
              <p:cNvPr id="260" name="df.head()"/>
              <p:cNvSpPr txBox="1"/>
              <p:nvPr/>
            </p:nvSpPr>
            <p:spPr>
              <a:xfrm>
                <a:off x="1150" y="330052"/>
                <a:ext cx="1757368" cy="80148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defTabSz="457200">
                  <a:spcBef>
                    <a:spcPts val="0"/>
                  </a:spcBef>
                  <a:defRPr sz="2100">
                    <a:solidFill>
                      <a:srgbClr val="BFD4E1"/>
                    </a:solidFill>
                    <a:latin typeface="Menlo Regular"/>
                    <a:ea typeface="Menlo Regular"/>
                    <a:cs typeface="Menlo Regular"/>
                    <a:sym typeface="Menlo Regular"/>
                  </a:defRPr>
                </a:lvl1pPr>
              </a:lstStyle>
              <a:p>
                <a:pPr/>
                <a:r>
                  <a:t>df.head()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16_decision_tree_structure.png" descr="16_decision_tree_structur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196699" y="1166610"/>
            <a:ext cx="19035069" cy="11382780"/>
          </a:xfrm>
          <a:prstGeom prst="rect">
            <a:avLst/>
          </a:prstGeom>
          <a:ln w="12700">
            <a:miter lim="400000"/>
          </a:ln>
        </p:spPr>
      </p:pic>
      <p:sp>
        <p:nvSpPr>
          <p:cNvPr id="265" name="Machine Learning - Model"/>
          <p:cNvSpPr txBox="1"/>
          <p:nvPr>
            <p:ph type="title"/>
          </p:nvPr>
        </p:nvSpPr>
        <p:spPr>
          <a:xfrm>
            <a:off x="422999" y="1549190"/>
            <a:ext cx="8592969" cy="1072361"/>
          </a:xfrm>
          <a:prstGeom prst="rect">
            <a:avLst/>
          </a:prstGeom>
        </p:spPr>
        <p:txBody>
          <a:bodyPr/>
          <a:lstStyle>
            <a:lvl1pPr>
              <a:defRPr spc="-165" sz="5500">
                <a:gradFill flip="none" rotWithShape="1">
                  <a:gsLst>
                    <a:gs pos="0">
                      <a:srgbClr val="000000"/>
                    </a:gs>
                    <a:gs pos="100000">
                      <a:srgbClr val="929292"/>
                    </a:gs>
                  </a:gsLst>
                  <a:lin ang="3960000" scaled="0"/>
                </a:gradFill>
              </a:defRPr>
            </a:lvl1pPr>
          </a:lstStyle>
          <a:p>
            <a:pPr/>
            <a:r>
              <a:t>Machine Learning - Model </a:t>
            </a:r>
          </a:p>
        </p:txBody>
      </p:sp>
      <p:sp>
        <p:nvSpPr>
          <p:cNvPr id="266" name="Algorithmus…"/>
          <p:cNvSpPr txBox="1"/>
          <p:nvPr/>
        </p:nvSpPr>
        <p:spPr>
          <a:xfrm>
            <a:off x="1099038" y="3216763"/>
            <a:ext cx="10169293" cy="8940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lvl="1" marL="966258" indent="-407458">
              <a:buClr>
                <a:schemeClr val="accent3">
                  <a:hueOff val="-385756"/>
                  <a:satOff val="-32155"/>
                  <a:lumOff val="17967"/>
                </a:schemeClr>
              </a:buClr>
              <a:buSzPct val="100000"/>
              <a:buChar char="•"/>
              <a:defRPr sz="3500">
                <a:solidFill>
                  <a:srgbClr val="5E5E5E"/>
                </a:solidFill>
              </a:defRPr>
            </a:pPr>
            <a:r>
              <a:t>Algorithmus</a:t>
            </a:r>
          </a:p>
          <a:p>
            <a:pPr lvl="2" marL="1525058" indent="-407458">
              <a:buClr>
                <a:schemeClr val="accent3">
                  <a:hueOff val="-385756"/>
                  <a:satOff val="-32155"/>
                  <a:lumOff val="17967"/>
                </a:schemeClr>
              </a:buClr>
              <a:buSzPct val="100000"/>
              <a:buChar char="➡"/>
              <a:defRPr sz="3500">
                <a:solidFill>
                  <a:srgbClr val="5E5E5E"/>
                </a:solidFill>
              </a:defRPr>
            </a:pPr>
            <a:r>
              <a:t> </a:t>
            </a:r>
            <a:r>
              <a:rPr>
                <a:latin typeface="+mn-lt"/>
                <a:ea typeface="+mn-ea"/>
                <a:cs typeface="+mn-cs"/>
                <a:sym typeface="Avenir Next Demi Bold"/>
              </a:rPr>
              <a:t>Decision Tree</a:t>
            </a:r>
            <a:r>
              <a:t> (max_depth=4)</a:t>
            </a:r>
          </a:p>
          <a:p>
            <a:pPr lvl="3" marL="2083858" indent="-407458">
              <a:buClr>
                <a:schemeClr val="accent3">
                  <a:hueOff val="-385756"/>
                  <a:satOff val="-32155"/>
                  <a:lumOff val="17967"/>
                </a:schemeClr>
              </a:buClr>
              <a:buSzPct val="100000"/>
              <a:buChar char="-"/>
              <a:defRPr sz="3500">
                <a:solidFill>
                  <a:srgbClr val="5E5E5E"/>
                </a:solidFill>
              </a:defRPr>
            </a:pPr>
            <a:r>
              <a:t> Interpretierbar </a:t>
            </a:r>
          </a:p>
          <a:p>
            <a:pPr lvl="3" marL="2083858" indent="-407458">
              <a:buClr>
                <a:schemeClr val="accent3">
                  <a:hueOff val="-385756"/>
                  <a:satOff val="-32155"/>
                  <a:lumOff val="17967"/>
                </a:schemeClr>
              </a:buClr>
              <a:buSzPct val="100000"/>
              <a:buChar char="-"/>
              <a:defRPr sz="3500">
                <a:solidFill>
                  <a:srgbClr val="5E5E5E"/>
                </a:solidFill>
              </a:defRPr>
            </a:pPr>
            <a:r>
              <a:t> Feature Importance Sichtbar </a:t>
            </a:r>
          </a:p>
          <a:p>
            <a:pPr lvl="3" marL="2083858" indent="-407458">
              <a:buClr>
                <a:schemeClr val="accent3">
                  <a:hueOff val="-385756"/>
                  <a:satOff val="-32155"/>
                  <a:lumOff val="17967"/>
                </a:schemeClr>
              </a:buClr>
              <a:buSzPct val="100000"/>
              <a:buChar char="-"/>
              <a:defRPr sz="3500">
                <a:solidFill>
                  <a:srgbClr val="5E5E5E"/>
                </a:solidFill>
              </a:defRPr>
            </a:pPr>
            <a:r>
              <a:t> Gut für kleine Datasets</a:t>
            </a:r>
          </a:p>
          <a:p>
            <a:pPr lvl="1" marL="966258" indent="-407458">
              <a:buClr>
                <a:schemeClr val="accent3">
                  <a:hueOff val="-385756"/>
                  <a:satOff val="-32155"/>
                  <a:lumOff val="17967"/>
                </a:schemeClr>
              </a:buClr>
              <a:buSzPct val="100000"/>
              <a:buChar char="•"/>
              <a:defRPr sz="3500">
                <a:solidFill>
                  <a:srgbClr val="5E5E5E"/>
                </a:solidFill>
              </a:defRPr>
            </a:pPr>
            <a:r>
              <a:t>Train/Test Split: 80/20</a:t>
            </a:r>
          </a:p>
          <a:p>
            <a:pPr lvl="2" marL="1525058" indent="-407458">
              <a:buClr>
                <a:schemeClr val="accent3">
                  <a:hueOff val="-385756"/>
                  <a:satOff val="-32155"/>
                  <a:lumOff val="17967"/>
                </a:schemeClr>
              </a:buClr>
              <a:buSzPct val="100000"/>
              <a:buChar char="•"/>
              <a:defRPr sz="3500">
                <a:solidFill>
                  <a:srgbClr val="5E5E5E"/>
                </a:solidFill>
              </a:defRPr>
            </a:pPr>
            <a:r>
              <a:t>Train </a:t>
            </a:r>
          </a:p>
          <a:p>
            <a:pPr lvl="3" marL="2083858" indent="-407458">
              <a:buClr>
                <a:schemeClr val="accent3">
                  <a:hueOff val="-385756"/>
                  <a:satOff val="-32155"/>
                  <a:lumOff val="17967"/>
                </a:schemeClr>
              </a:buClr>
              <a:buSzPct val="100000"/>
              <a:buChar char="-"/>
              <a:defRPr sz="3500">
                <a:solidFill>
                  <a:srgbClr val="5E5E5E"/>
                </a:solidFill>
              </a:defRPr>
            </a:pPr>
            <a:r>
              <a:t>40 Normal, 40 Tumor</a:t>
            </a:r>
          </a:p>
          <a:p>
            <a:pPr lvl="2" marL="1525058" indent="-407458">
              <a:buClr>
                <a:schemeClr val="accent3">
                  <a:hueOff val="-385756"/>
                  <a:satOff val="-32155"/>
                  <a:lumOff val="17967"/>
                </a:schemeClr>
              </a:buClr>
              <a:buSzPct val="100000"/>
              <a:buChar char="•"/>
              <a:defRPr sz="3500">
                <a:solidFill>
                  <a:srgbClr val="5E5E5E"/>
                </a:solidFill>
              </a:defRPr>
            </a:pPr>
            <a:r>
              <a:t>Test:</a:t>
            </a:r>
          </a:p>
          <a:p>
            <a:pPr lvl="3" marL="2083858" indent="-407458">
              <a:buClr>
                <a:schemeClr val="accent3">
                  <a:hueOff val="-385756"/>
                  <a:satOff val="-32155"/>
                  <a:lumOff val="17967"/>
                </a:schemeClr>
              </a:buClr>
              <a:buSzPct val="100000"/>
              <a:buChar char="-"/>
              <a:defRPr sz="3500">
                <a:solidFill>
                  <a:srgbClr val="5E5E5E"/>
                </a:solidFill>
              </a:defRPr>
            </a:pPr>
            <a:r>
              <a:t>10 Normal, 10 Tumor </a:t>
            </a:r>
          </a:p>
        </p:txBody>
      </p:sp>
      <p:pic>
        <p:nvPicPr>
          <p:cNvPr id="267" name="15_feature_importance.png" descr="15_feature_importanc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7352359" y="1110710"/>
            <a:ext cx="7930558" cy="4720951"/>
          </a:xfrm>
          <a:prstGeom prst="rect">
            <a:avLst/>
          </a:prstGeom>
          <a:ln w="12700">
            <a:miter lim="400000"/>
          </a:ln>
        </p:spPr>
      </p:pic>
      <p:sp>
        <p:nvSpPr>
          <p:cNvPr id="268" name="feature_importance = clf.feature_importances_"/>
          <p:cNvSpPr txBox="1"/>
          <p:nvPr/>
        </p:nvSpPr>
        <p:spPr>
          <a:xfrm>
            <a:off x="17660529" y="679373"/>
            <a:ext cx="4931310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spcBef>
                <a:spcPts val="0"/>
              </a:spcBef>
              <a:defRPr sz="1400">
                <a:solidFill>
                  <a:srgbClr val="BFD4E1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feature_importance </a:t>
            </a:r>
            <a:r>
              <a:rPr>
                <a:solidFill>
                  <a:srgbClr val="D4D4D4"/>
                </a:solidFill>
              </a:rPr>
              <a:t>=</a:t>
            </a:r>
            <a:r>
              <a:t> clf.feature_importances_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Machine Learning - Ergebnisse"/>
          <p:cNvSpPr txBox="1"/>
          <p:nvPr>
            <p:ph type="title"/>
          </p:nvPr>
        </p:nvSpPr>
        <p:spPr>
          <a:xfrm>
            <a:off x="733932" y="1553742"/>
            <a:ext cx="9222167" cy="977737"/>
          </a:xfrm>
          <a:prstGeom prst="rect">
            <a:avLst/>
          </a:prstGeom>
        </p:spPr>
        <p:txBody>
          <a:bodyPr/>
          <a:lstStyle>
            <a:lvl1pPr defTabSz="751205">
              <a:defRPr spc="-150" sz="5005">
                <a:gradFill flip="none" rotWithShape="1">
                  <a:gsLst>
                    <a:gs pos="0">
                      <a:srgbClr val="000000"/>
                    </a:gs>
                    <a:gs pos="100000">
                      <a:srgbClr val="929292"/>
                    </a:gs>
                  </a:gsLst>
                  <a:lin ang="3960000" scaled="0"/>
                </a:gradFill>
              </a:defRPr>
            </a:lvl1pPr>
          </a:lstStyle>
          <a:p>
            <a:pPr/>
            <a:r>
              <a:t>Machine Learning - Ergebnisse  </a:t>
            </a:r>
          </a:p>
        </p:txBody>
      </p:sp>
      <p:sp>
        <p:nvSpPr>
          <p:cNvPr id="271" name="Test Performance:…"/>
          <p:cNvSpPr txBox="1"/>
          <p:nvPr/>
        </p:nvSpPr>
        <p:spPr>
          <a:xfrm>
            <a:off x="1621319" y="3495369"/>
            <a:ext cx="11818380" cy="3454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lvl="1" marL="966258" indent="-407458">
              <a:buClr>
                <a:schemeClr val="accent3">
                  <a:hueOff val="-385756"/>
                  <a:satOff val="-32155"/>
                  <a:lumOff val="17967"/>
                </a:schemeClr>
              </a:buClr>
              <a:buSzPct val="100000"/>
              <a:buChar char="•"/>
              <a:defRPr sz="3500">
                <a:solidFill>
                  <a:srgbClr val="5E5E5E"/>
                </a:solidFill>
              </a:defRPr>
            </a:pPr>
            <a:r>
              <a:t>Test Performance:</a:t>
            </a:r>
          </a:p>
          <a:p>
            <a:pPr lvl="2" marL="1525058" indent="-407458">
              <a:buClr>
                <a:schemeClr val="accent3">
                  <a:hueOff val="-385756"/>
                  <a:satOff val="-32155"/>
                  <a:lumOff val="17967"/>
                </a:schemeClr>
              </a:buClr>
              <a:buSzPct val="100000"/>
              <a:buChar char="+"/>
              <a:defRPr sz="3500">
                <a:solidFill>
                  <a:srgbClr val="5E5E5E"/>
                </a:solidFill>
              </a:defRPr>
            </a:pPr>
            <a:r>
              <a:t> Accuracy: </a:t>
            </a:r>
            <a:r>
              <a:rPr>
                <a:latin typeface="+mn-lt"/>
                <a:ea typeface="+mn-ea"/>
                <a:cs typeface="+mn-cs"/>
                <a:sym typeface="Avenir Next Demi Bold"/>
              </a:rPr>
              <a:t>80% (16/20)</a:t>
            </a:r>
            <a:endParaRPr>
              <a:latin typeface="+mn-lt"/>
              <a:ea typeface="+mn-ea"/>
              <a:cs typeface="+mn-cs"/>
              <a:sym typeface="Avenir Next Demi Bold"/>
            </a:endParaRPr>
          </a:p>
          <a:p>
            <a:pPr lvl="2" marL="1525058" indent="-407458">
              <a:buClr>
                <a:schemeClr val="accent3">
                  <a:hueOff val="-385756"/>
                  <a:satOff val="-32155"/>
                  <a:lumOff val="17967"/>
                </a:schemeClr>
              </a:buClr>
              <a:buSzPct val="100000"/>
              <a:buChar char="+"/>
              <a:defRPr sz="3500">
                <a:solidFill>
                  <a:srgbClr val="5E5E5E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Avenir Next Demi Bold"/>
              </a:rPr>
              <a:t> </a:t>
            </a:r>
            <a:r>
              <a:t>AUC: 0.950 </a:t>
            </a:r>
          </a:p>
          <a:p>
            <a:pPr lvl="2" marL="1525058" indent="-407458">
              <a:buClr>
                <a:schemeClr val="accent5"/>
              </a:buClr>
              <a:buSzPct val="100000"/>
              <a:buChar char="-"/>
              <a:defRPr sz="3500">
                <a:solidFill>
                  <a:srgbClr val="5E5E5E"/>
                </a:solidFill>
              </a:defRPr>
            </a:pPr>
            <a:r>
              <a:t> </a:t>
            </a:r>
            <a:r>
              <a:rPr>
                <a:latin typeface="+mn-lt"/>
                <a:ea typeface="+mn-ea"/>
                <a:cs typeface="+mn-cs"/>
                <a:sym typeface="Avenir Next Demi Bold"/>
              </a:rPr>
              <a:t>Tumur Recall</a:t>
            </a:r>
            <a:r>
              <a:t>: 70% </a:t>
            </a:r>
          </a:p>
        </p:txBody>
      </p:sp>
      <p:graphicFrame>
        <p:nvGraphicFramePr>
          <p:cNvPr id="272" name="Report für Test Set"/>
          <p:cNvGraphicFramePr/>
          <p:nvPr/>
        </p:nvGraphicFramePr>
        <p:xfrm>
          <a:off x="7193070" y="9638052"/>
          <a:ext cx="9593539" cy="2728643"/>
        </p:xfrm>
        <a:graphic xmlns:a="http://schemas.openxmlformats.org/drawingml/2006/main">
          <a:graphicData uri="http://schemas.openxmlformats.org/drawingml/2006/table">
            <a:tbl>
              <a:tblPr firstCol="1" firstRow="1" lastCol="0" lastRow="0" bandCol="0" bandRow="0" rtl="0">
                <a:tableStyleId>{C7B018BB-80A7-4F77-B60F-C8B233D01FF8}</a:tableStyleId>
              </a:tblPr>
              <a:tblGrid>
                <a:gridCol w="2382332"/>
                <a:gridCol w="2279312"/>
                <a:gridCol w="1352134"/>
                <a:gridCol w="1957375"/>
                <a:gridCol w="1609683"/>
              </a:tblGrid>
              <a:tr h="965200">
                <a:tc gridSpan="5">
                  <a:txBody>
                    <a:bodyPr/>
                    <a:lstStyle/>
                    <a:p>
                      <a:pPr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sz="5000">
                          <a:latin typeface="Avenir Next Regular"/>
                          <a:ea typeface="Avenir Next Regular"/>
                          <a:cs typeface="Avenir Next Regular"/>
                        </a:rPr>
                        <a:t>Report für Test Set</a:t>
                      </a:r>
                    </a:p>
                  </a:txBody>
                  <a:tcPr marL="50800" marR="50800" marT="50800" marB="50800" anchor="ctr" anchorCtr="0" horzOverflow="overflow">
                    <a:lnL/>
                    <a:lnR/>
                    <a:lnT/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70211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 sz="1800"/>
                      </a:pPr>
                      <a:r>
                        <a:rPr sz="3200">
                          <a:solidFill>
                            <a:srgbClr val="FFFFFF"/>
                          </a:solidFill>
                          <a:sym typeface="Avenir Next Demi Bold"/>
                        </a:rPr>
                        <a:t>              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A9A9A9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38100">
                      <a:solidFill>
                        <a:srgbClr val="A9A9A9"/>
                      </a:solidFill>
                      <a:miter lim="400000"/>
                    </a:lnB>
                    <a:solidFill>
                      <a:srgbClr val="014D8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1800"/>
                      </a:pPr>
                      <a:r>
                        <a:rPr sz="3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  <a:sym typeface="Avenir Next Demi Bold"/>
                        </a:rPr>
                        <a:t>precision    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A9A9A9"/>
                      </a:solidFill>
                      <a:miter lim="400000"/>
                    </a:lnL>
                    <a:lnR w="12700">
                      <a:solidFill>
                        <a:srgbClr val="A9A9A9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38100">
                      <a:solidFill>
                        <a:srgbClr val="A9A9A9"/>
                      </a:solidFill>
                      <a:miter lim="400000"/>
                    </a:lnB>
                    <a:solidFill>
                      <a:srgbClr val="014D8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1800"/>
                      </a:pPr>
                      <a:r>
                        <a:rPr sz="3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  <a:sym typeface="Avenir Next Demi Bold"/>
                        </a:rPr>
                        <a:t>recall  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A9A9A9"/>
                      </a:solidFill>
                      <a:miter lim="400000"/>
                    </a:lnL>
                    <a:lnR w="12700">
                      <a:solidFill>
                        <a:srgbClr val="A9A9A9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38100">
                      <a:solidFill>
                        <a:srgbClr val="A9A9A9"/>
                      </a:solidFill>
                      <a:miter lim="400000"/>
                    </a:lnB>
                    <a:solidFill>
                      <a:srgbClr val="014D8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1800"/>
                      </a:pPr>
                      <a:r>
                        <a:rPr sz="3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  <a:sym typeface="Avenir Next Demi Bold"/>
                        </a:rPr>
                        <a:t>f1-score   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A9A9A9"/>
                      </a:solidFill>
                      <a:miter lim="400000"/>
                    </a:lnL>
                    <a:lnR w="12700">
                      <a:solidFill>
                        <a:srgbClr val="A9A9A9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38100">
                      <a:solidFill>
                        <a:srgbClr val="A9A9A9"/>
                      </a:solidFill>
                      <a:miter lim="400000"/>
                    </a:lnB>
                    <a:solidFill>
                      <a:srgbClr val="014D8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1800"/>
                      </a:pPr>
                      <a:r>
                        <a:rPr sz="3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  <a:sym typeface="Avenir Next Demi Bold"/>
                        </a:rPr>
                        <a:t>support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A9A9A9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38100">
                      <a:solidFill>
                        <a:srgbClr val="A9A9A9"/>
                      </a:solidFill>
                      <a:miter lim="400000"/>
                    </a:lnB>
                    <a:solidFill>
                      <a:srgbClr val="014D80"/>
                    </a:solidFill>
                  </a:tcPr>
                </a:tc>
              </a:tr>
              <a:tr h="70211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 sz="1800"/>
                      </a:pPr>
                      <a:r>
                        <a:rPr sz="3200">
                          <a:sym typeface="Avenir Next Demi Bold"/>
                        </a:rPr>
                        <a:t>      Normal  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T w="38100">
                      <a:solidFill>
                        <a:srgbClr val="A9A9A9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200"/>
                        <a:t>     0.75    </a:t>
                      </a:r>
                    </a:p>
                  </a:txBody>
                  <a:tcPr marL="50800" marR="50800" marT="50800" marB="50800" anchor="ctr" anchorCtr="0" horzOverflow="overflow">
                    <a:lnT w="38100">
                      <a:solidFill>
                        <a:srgbClr val="A9A9A9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200"/>
                        <a:t>  0.90  </a:t>
                      </a:r>
                    </a:p>
                  </a:txBody>
                  <a:tcPr marL="50800" marR="50800" marT="50800" marB="50800" anchor="ctr" anchorCtr="0" horzOverflow="overflow">
                    <a:lnT w="38100">
                      <a:solidFill>
                        <a:srgbClr val="A9A9A9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200"/>
                        <a:t>    0.82   </a:t>
                      </a:r>
                    </a:p>
                  </a:txBody>
                  <a:tcPr marL="50800" marR="50800" marT="50800" marB="50800" anchor="ctr" anchorCtr="0" horzOverflow="overflow">
                    <a:lnT w="38100">
                      <a:solidFill>
                        <a:srgbClr val="A9A9A9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200"/>
                        <a:t>10</a:t>
                      </a:r>
                    </a:p>
                  </a:txBody>
                  <a:tcPr marL="50800" marR="50800" marT="50800" marB="50800" anchor="ctr" anchorCtr="0" horzOverflow="overflow">
                    <a:lnR w="12700">
                      <a:solidFill>
                        <a:srgbClr val="000000"/>
                      </a:solidFill>
                      <a:miter lim="400000"/>
                    </a:lnR>
                    <a:lnT w="38100">
                      <a:solidFill>
                        <a:srgbClr val="A9A9A9"/>
                      </a:solidFill>
                      <a:miter lim="400000"/>
                    </a:lnT>
                  </a:tcPr>
                </a:tc>
              </a:tr>
              <a:tr h="70211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 sz="1800"/>
                      </a:pPr>
                      <a:r>
                        <a:rPr sz="3200">
                          <a:sym typeface="Avenir Next Demi Bold"/>
                        </a:rPr>
                        <a:t>       Tumor  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B w="127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200"/>
                        <a:t>     0.88    </a:t>
                      </a:r>
                    </a:p>
                  </a:txBody>
                  <a:tcPr marL="50800" marR="50800" marT="50800" marB="50800" anchor="ctr" anchorCtr="0" horzOverflow="overflow">
                    <a:lnB w="127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200"/>
                        <a:t>  0.70  </a:t>
                      </a:r>
                    </a:p>
                  </a:txBody>
                  <a:tcPr marL="50800" marR="50800" marT="50800" marB="50800" anchor="ctr" anchorCtr="0" horzOverflow="overflow">
                    <a:lnB w="127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200"/>
                        <a:t>    0.78   </a:t>
                      </a:r>
                    </a:p>
                  </a:txBody>
                  <a:tcPr marL="50800" marR="50800" marT="50800" marB="50800" anchor="ctr" anchorCtr="0" horzOverflow="overflow">
                    <a:lnB w="127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200"/>
                        <a:t>10</a:t>
                      </a:r>
                    </a:p>
                  </a:txBody>
                  <a:tcPr marL="50800" marR="50800" marT="50800" marB="50800" anchor="ctr" anchorCtr="0" horzOverflow="overflow">
                    <a:lnR w="12700">
                      <a:solidFill>
                        <a:srgbClr val="000000"/>
                      </a:solidFill>
                      <a:miter lim="400000"/>
                    </a:lnR>
                    <a:lnB w="12700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</a:tbl>
          </a:graphicData>
        </a:graphic>
      </p:graphicFrame>
      <p:grpSp>
        <p:nvGrpSpPr>
          <p:cNvPr id="278" name="Gruppieren"/>
          <p:cNvGrpSpPr/>
          <p:nvPr/>
        </p:nvGrpSpPr>
        <p:grpSpPr>
          <a:xfrm>
            <a:off x="14257826" y="974367"/>
            <a:ext cx="8959097" cy="7360449"/>
            <a:chOff x="0" y="0"/>
            <a:chExt cx="8959096" cy="7360447"/>
          </a:xfrm>
        </p:grpSpPr>
        <p:pic>
          <p:nvPicPr>
            <p:cNvPr id="273" name="14_confusion_matrix.png" descr="14_confusion_matrix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8959097" cy="736044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74" name="TN"/>
            <p:cNvSpPr txBox="1"/>
            <p:nvPr/>
          </p:nvSpPr>
          <p:spPr>
            <a:xfrm>
              <a:off x="735913" y="439111"/>
              <a:ext cx="765777" cy="7654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3900"/>
              </a:lvl1pPr>
            </a:lstStyle>
            <a:p>
              <a:pPr/>
              <a:r>
                <a:t>TN</a:t>
              </a:r>
            </a:p>
          </p:txBody>
        </p:sp>
        <p:sp>
          <p:nvSpPr>
            <p:cNvPr id="275" name="FN"/>
            <p:cNvSpPr txBox="1"/>
            <p:nvPr/>
          </p:nvSpPr>
          <p:spPr>
            <a:xfrm>
              <a:off x="737871" y="3714254"/>
              <a:ext cx="761862" cy="7654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3900"/>
              </a:lvl1pPr>
            </a:lstStyle>
            <a:p>
              <a:pPr/>
              <a:r>
                <a:t>FN</a:t>
              </a:r>
            </a:p>
          </p:txBody>
        </p:sp>
        <p:sp>
          <p:nvSpPr>
            <p:cNvPr id="276" name="FP"/>
            <p:cNvSpPr txBox="1"/>
            <p:nvPr/>
          </p:nvSpPr>
          <p:spPr>
            <a:xfrm>
              <a:off x="6860419" y="693606"/>
              <a:ext cx="671815" cy="7654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3900"/>
              </a:lvl1pPr>
            </a:lstStyle>
            <a:p>
              <a:pPr/>
              <a:r>
                <a:t>FP</a:t>
              </a:r>
            </a:p>
          </p:txBody>
        </p:sp>
        <p:sp>
          <p:nvSpPr>
            <p:cNvPr id="277" name="TP"/>
            <p:cNvSpPr txBox="1"/>
            <p:nvPr/>
          </p:nvSpPr>
          <p:spPr>
            <a:xfrm>
              <a:off x="6813438" y="3838254"/>
              <a:ext cx="675730" cy="7654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3900"/>
              </a:lvl1pPr>
            </a:lstStyle>
            <a:p>
              <a:pPr/>
              <a:r>
                <a:t>TP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17_roc_curve.png" descr="17_roc_curv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190767" y="342520"/>
            <a:ext cx="11925726" cy="9508457"/>
          </a:xfrm>
          <a:prstGeom prst="rect">
            <a:avLst/>
          </a:prstGeom>
          <a:ln w="12700">
            <a:miter lim="400000"/>
          </a:ln>
        </p:spPr>
      </p:pic>
      <p:sp>
        <p:nvSpPr>
          <p:cNvPr id="281" name="Machine Learning - Cross Validation"/>
          <p:cNvSpPr txBox="1"/>
          <p:nvPr>
            <p:ph type="title"/>
          </p:nvPr>
        </p:nvSpPr>
        <p:spPr>
          <a:xfrm>
            <a:off x="823284" y="1541735"/>
            <a:ext cx="10130947" cy="977737"/>
          </a:xfrm>
          <a:prstGeom prst="rect">
            <a:avLst/>
          </a:prstGeom>
        </p:spPr>
        <p:txBody>
          <a:bodyPr/>
          <a:lstStyle>
            <a:lvl1pPr defTabSz="751205">
              <a:defRPr spc="-150" sz="5005">
                <a:gradFill flip="none" rotWithShape="1">
                  <a:gsLst>
                    <a:gs pos="0">
                      <a:srgbClr val="000000"/>
                    </a:gs>
                    <a:gs pos="100000">
                      <a:srgbClr val="929292"/>
                    </a:gs>
                  </a:gsLst>
                  <a:lin ang="3960000" scaled="0"/>
                </a:gradFill>
              </a:defRPr>
            </a:lvl1pPr>
          </a:lstStyle>
          <a:p>
            <a:pPr/>
            <a:r>
              <a:t>Machine Learning - Cross Validation  </a:t>
            </a:r>
          </a:p>
        </p:txBody>
      </p:sp>
      <p:graphicFrame>
        <p:nvGraphicFramePr>
          <p:cNvPr id="282" name="Alle 5 Folds"/>
          <p:cNvGraphicFramePr/>
          <p:nvPr/>
        </p:nvGraphicFramePr>
        <p:xfrm>
          <a:off x="9466463" y="9412712"/>
          <a:ext cx="4422336" cy="3381351"/>
        </p:xfrm>
        <a:graphic xmlns:a="http://schemas.openxmlformats.org/drawingml/2006/main">
          <a:graphicData uri="http://schemas.openxmlformats.org/drawingml/2006/table">
            <a:tbl>
              <a:tblPr firstCol="1" firstRow="1" lastCol="0" lastRow="0" bandCol="0" bandRow="0" rtl="0">
                <a:tableStyleId>{2708684C-4D16-4618-839F-0558EEFCDFE6}</a:tableStyleId>
              </a:tblPr>
              <a:tblGrid>
                <a:gridCol w="1798319"/>
                <a:gridCol w="2611316"/>
              </a:tblGrid>
              <a:tr h="558800">
                <a:tc gridSpan="2">
                  <a:txBody>
                    <a:bodyPr/>
                    <a:lstStyle/>
                    <a:p>
                      <a:pPr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sz="2600">
                          <a:latin typeface="Avenir Next Regular"/>
                          <a:ea typeface="Avenir Next Regular"/>
                          <a:cs typeface="Avenir Next Regular"/>
                        </a:rPr>
                        <a:t>Alle 5 Folds</a:t>
                      </a:r>
                    </a:p>
                  </a:txBody>
                  <a:tcPr marL="50800" marR="50800" marT="50800" marB="50800" anchor="ctr" anchorCtr="0" horzOverflow="overflow">
                    <a:lnL/>
                    <a:lnR/>
                    <a:lnT/>
                    <a:lnB w="12700">
                      <a:solidFill>
                        <a:srgbClr val="A9A9A9"/>
                      </a:solidFill>
                      <a:miter lim="400000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 hMerge="1">
                  <a:tcPr/>
                </a:tc>
              </a:tr>
              <a:tr h="468308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 sz="2600">
                          <a:solidFill>
                            <a:srgbClr val="FFFFFF"/>
                          </a:solidFill>
                          <a:sym typeface="Avenir Next Demi Bold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R w="12700">
                      <a:solidFill>
                        <a:srgbClr val="FFFFFF"/>
                      </a:solidFill>
                      <a:miter lim="400000"/>
                    </a:lnR>
                    <a:lnT w="12700">
                      <a:solidFill>
                        <a:srgbClr val="A9A9A9"/>
                      </a:solidFill>
                      <a:miter lim="400000"/>
                    </a:lnT>
                    <a:lnB w="38100">
                      <a:solidFill>
                        <a:srgbClr val="A9A9A9"/>
                      </a:solidFill>
                      <a:miter lim="400000"/>
                    </a:lnB>
                    <a:solidFill>
                      <a:srgbClr val="646464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1800"/>
                      </a:pPr>
                      <a:r>
                        <a:rPr sz="26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  <a:sym typeface="Avenir Next Demi Bold"/>
                        </a:rPr>
                        <a:t>Accuracy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FFFFFF"/>
                      </a:solidFill>
                      <a:miter lim="400000"/>
                    </a:lnL>
                    <a:lnR w="12700">
                      <a:solidFill>
                        <a:srgbClr val="A9A9A9"/>
                      </a:solidFill>
                      <a:miter lim="400000"/>
                    </a:lnR>
                    <a:lnT w="12700">
                      <a:solidFill>
                        <a:srgbClr val="A9A9A9"/>
                      </a:solidFill>
                      <a:miter lim="400000"/>
                    </a:lnT>
                    <a:lnB w="38100">
                      <a:solidFill>
                        <a:srgbClr val="A9A9A9"/>
                      </a:solidFill>
                      <a:miter lim="400000"/>
                    </a:lnB>
                    <a:solidFill>
                      <a:srgbClr val="646464"/>
                    </a:solidFill>
                  </a:tcPr>
                </a:tc>
              </a:tr>
              <a:tr h="468308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 sz="1800"/>
                      </a:pPr>
                      <a:r>
                        <a:rPr sz="2600">
                          <a:sym typeface="Avenir Next Demi Bold"/>
                        </a:rPr>
                        <a:t>  Fold 1 </a:t>
                      </a:r>
                    </a:p>
                  </a:txBody>
                  <a:tcPr marL="50800" marR="50800" marT="50800" marB="50800" anchor="ctr" anchorCtr="0" horzOverflow="overflow">
                    <a:lnT w="38100">
                      <a:solidFill>
                        <a:srgbClr val="A9A9A9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2600"/>
                        <a:t>0,750</a:t>
                      </a:r>
                    </a:p>
                  </a:txBody>
                  <a:tcPr marL="50800" marR="50800" marT="50800" marB="50800" anchor="ctr" anchorCtr="0" horzOverflow="overflow">
                    <a:lnR w="12700">
                      <a:solidFill>
                        <a:srgbClr val="A9A9A9"/>
                      </a:solidFill>
                      <a:miter lim="400000"/>
                    </a:lnR>
                    <a:lnT w="38100">
                      <a:solidFill>
                        <a:srgbClr val="A9A9A9"/>
                      </a:solidFill>
                      <a:miter lim="400000"/>
                    </a:lnT>
                  </a:tcPr>
                </a:tc>
              </a:tr>
              <a:tr h="468308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 sz="1800"/>
                      </a:pPr>
                      <a:r>
                        <a:rPr sz="2600">
                          <a:sym typeface="Avenir Next Demi Bold"/>
                        </a:rPr>
                        <a:t>  Fold 2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2600"/>
                        <a:t>0,700</a:t>
                      </a:r>
                    </a:p>
                  </a:txBody>
                  <a:tcPr marL="50800" marR="50800" marT="50800" marB="50800" anchor="ctr" anchorCtr="0" horzOverflow="overflow">
                    <a:lnR w="12700">
                      <a:solidFill>
                        <a:srgbClr val="A9A9A9"/>
                      </a:solidFill>
                      <a:miter lim="400000"/>
                    </a:lnR>
                  </a:tcPr>
                </a:tc>
              </a:tr>
              <a:tr h="468308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 sz="1800"/>
                      </a:pPr>
                      <a:r>
                        <a:rPr sz="2600">
                          <a:sym typeface="Avenir Next Demi Bold"/>
                        </a:rPr>
                        <a:t>  Fold 3 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2600"/>
                        <a:t>0,700</a:t>
                      </a:r>
                    </a:p>
                  </a:txBody>
                  <a:tcPr marL="50800" marR="50800" marT="50800" marB="50800" anchor="ctr" anchorCtr="0" horzOverflow="overflow">
                    <a:lnR w="12700">
                      <a:solidFill>
                        <a:srgbClr val="A9A9A9"/>
                      </a:solidFill>
                      <a:miter lim="400000"/>
                    </a:lnR>
                  </a:tcPr>
                </a:tc>
              </a:tr>
              <a:tr h="468308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 sz="1800"/>
                      </a:pPr>
                      <a:r>
                        <a:rPr sz="2600">
                          <a:sym typeface="Avenir Next Demi Bold"/>
                        </a:rPr>
                        <a:t>  Fold 4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2600"/>
                        <a:t>0,700</a:t>
                      </a:r>
                    </a:p>
                  </a:txBody>
                  <a:tcPr marL="50800" marR="50800" marT="50800" marB="50800" anchor="ctr" anchorCtr="0" horzOverflow="overflow">
                    <a:lnR w="12700">
                      <a:solidFill>
                        <a:srgbClr val="A9A9A9"/>
                      </a:solidFill>
                      <a:miter lim="400000"/>
                    </a:lnR>
                  </a:tcPr>
                </a:tc>
              </a:tr>
              <a:tr h="468308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 sz="1800"/>
                      </a:pPr>
                      <a:r>
                        <a:rPr sz="2600">
                          <a:sym typeface="Avenir Next Demi Bold"/>
                        </a:rPr>
                        <a:t>  Fold 5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2600">
                          <a:solidFill>
                            <a:schemeClr val="accent5"/>
                          </a:solidFill>
                        </a:rPr>
                        <a:t>0,500</a:t>
                      </a:r>
                    </a:p>
                  </a:txBody>
                  <a:tcPr marL="50800" marR="50800" marT="50800" marB="50800" anchor="ctr" anchorCtr="0" horzOverflow="overflow">
                    <a:lnR w="12700">
                      <a:solidFill>
                        <a:srgbClr val="A9A9A9"/>
                      </a:solidFill>
                      <a:miter lim="400000"/>
                    </a:lnR>
                    <a:lnB w="12700">
                      <a:solidFill>
                        <a:srgbClr val="A9A9A9"/>
                      </a:solidFill>
                      <a:miter lim="400000"/>
                    </a:lnB>
                  </a:tcPr>
                </a:tc>
              </a:tr>
            </a:tbl>
          </a:graphicData>
        </a:graphic>
      </p:graphicFrame>
      <p:graphicFrame>
        <p:nvGraphicFramePr>
          <p:cNvPr id="283" name="Test Scores 5 Folds"/>
          <p:cNvGraphicFramePr/>
          <p:nvPr/>
        </p:nvGraphicFramePr>
        <p:xfrm>
          <a:off x="1789698" y="9537631"/>
          <a:ext cx="7035686" cy="3131564"/>
        </p:xfrm>
        <a:graphic xmlns:a="http://schemas.openxmlformats.org/drawingml/2006/main">
          <a:graphicData uri="http://schemas.openxmlformats.org/drawingml/2006/table">
            <a:tbl>
              <a:tblPr firstCol="1" firstRow="0" lastCol="0" lastRow="0" bandCol="0" bandRow="0" rtl="0">
                <a:tableStyleId>{EEE7283C-3CF3-47DC-8721-378D4A62B228}</a:tableStyleId>
              </a:tblPr>
              <a:tblGrid>
                <a:gridCol w="3631202"/>
                <a:gridCol w="3391782"/>
              </a:tblGrid>
              <a:tr h="673100">
                <a:tc gridSpan="2"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300">
                          <a:latin typeface="Avenir Next Regular"/>
                          <a:ea typeface="Avenir Next Regular"/>
                          <a:cs typeface="Avenir Next Regular"/>
                        </a:rPr>
                        <a:t>Test Scores 5 Folds</a:t>
                      </a:r>
                    </a:p>
                  </a:txBody>
                  <a:tcPr marL="50800" marR="50800" marT="50800" marB="50800" anchor="ctr" anchorCtr="0" horzOverflow="overflow">
                    <a:lnL/>
                    <a:lnR/>
                    <a:lnT/>
                    <a:lnB w="12700">
                      <a:solidFill>
                        <a:srgbClr val="A9A9A9"/>
                      </a:solidFill>
                      <a:miter lim="400000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 hMerge="1">
                  <a:tcPr/>
                </a:tc>
              </a:tr>
              <a:tr h="61144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600">
                          <a:solidFill>
                            <a:srgbClr val="FFFFFF"/>
                          </a:solidFill>
                          <a:sym typeface="Avenir Next Medium"/>
                        </a:rPr>
                        <a:t>  Accuracy: </a:t>
                      </a:r>
                    </a:p>
                  </a:txBody>
                  <a:tcPr marL="50800" marR="50800" marT="50800" marB="50800" anchor="ctr" anchorCtr="0" horzOverflow="overflow">
                    <a:lnT w="12700">
                      <a:solidFill>
                        <a:srgbClr val="A9A9A9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2600"/>
                        <a:t> 0.670 (+/- 0.087)</a:t>
                      </a:r>
                    </a:p>
                  </a:txBody>
                  <a:tcPr marL="50800" marR="50800" marT="50800" marB="50800" anchor="ctr" anchorCtr="0" horzOverflow="overflow">
                    <a:lnR w="12700">
                      <a:solidFill>
                        <a:srgbClr val="A9A9A9"/>
                      </a:solidFill>
                      <a:miter lim="400000"/>
                    </a:lnR>
                  </a:tcPr>
                </a:tc>
              </a:tr>
              <a:tr h="61144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600">
                          <a:solidFill>
                            <a:srgbClr val="FFFFFF"/>
                          </a:solidFill>
                          <a:sym typeface="Avenir Next Medium"/>
                        </a:rPr>
                        <a:t>  Precision: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2600"/>
                        <a:t> 0.718 (+/- 0.127)</a:t>
                      </a:r>
                    </a:p>
                  </a:txBody>
                  <a:tcPr marL="50800" marR="50800" marT="50800" marB="50800" anchor="ctr" anchorCtr="0" horzOverflow="overflow">
                    <a:lnR w="12700">
                      <a:solidFill>
                        <a:srgbClr val="A9A9A9"/>
                      </a:solidFill>
                      <a:miter lim="400000"/>
                    </a:lnR>
                  </a:tcPr>
                </a:tc>
              </a:tr>
              <a:tr h="61144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600">
                          <a:solidFill>
                            <a:srgbClr val="FFFFFF"/>
                          </a:solidFill>
                          <a:sym typeface="Avenir Next Medium"/>
                        </a:rPr>
                        <a:t>  Recall:   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600"/>
                      </a:pPr>
                      <a:r>
                        <a:t> </a:t>
                      </a:r>
                      <a:r>
                        <a:rPr>
                          <a:solidFill>
                            <a:schemeClr val="accent5"/>
                          </a:solidFill>
                        </a:rPr>
                        <a:t>0.540 (+/- 0.185)</a:t>
                      </a:r>
                    </a:p>
                  </a:txBody>
                  <a:tcPr marL="50800" marR="50800" marT="50800" marB="50800" anchor="ctr" anchorCtr="0" horzOverflow="overflow">
                    <a:lnR w="12700">
                      <a:solidFill>
                        <a:srgbClr val="A9A9A9"/>
                      </a:solidFill>
                      <a:miter lim="400000"/>
                    </a:lnR>
                  </a:tcPr>
                </a:tc>
              </a:tr>
              <a:tr h="61144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600">
                          <a:solidFill>
                            <a:srgbClr val="FFFFFF"/>
                          </a:solidFill>
                          <a:sym typeface="Avenir Next Medium"/>
                        </a:rPr>
                        <a:t>  F1-Score: </a:t>
                      </a:r>
                    </a:p>
                  </a:txBody>
                  <a:tcPr marL="50800" marR="50800" marT="50800" marB="50800" anchor="ctr" anchorCtr="0" horzOverflow="overflow">
                    <a:lnB w="12700">
                      <a:solidFill>
                        <a:srgbClr val="A9A9A9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2600"/>
                        <a:t> 0.603 (+/- 0.162)</a:t>
                      </a:r>
                    </a:p>
                  </a:txBody>
                  <a:tcPr marL="50800" marR="50800" marT="50800" marB="50800" anchor="ctr" anchorCtr="0" horzOverflow="overflow">
                    <a:lnR w="12700">
                      <a:solidFill>
                        <a:srgbClr val="A9A9A9"/>
                      </a:solidFill>
                      <a:miter lim="400000"/>
                    </a:lnR>
                    <a:lnB w="12700">
                      <a:solidFill>
                        <a:srgbClr val="A9A9A9"/>
                      </a:solidFill>
                      <a:miter lim="400000"/>
                    </a:lnB>
                  </a:tcPr>
                </a:tc>
              </a:tr>
            </a:tbl>
          </a:graphicData>
        </a:graphic>
      </p:graphicFrame>
      <p:sp>
        <p:nvSpPr>
          <p:cNvPr id="284" name="scoring = ['accuracy', 'precision', 'recall', 'f1']…"/>
          <p:cNvSpPr txBox="1"/>
          <p:nvPr/>
        </p:nvSpPr>
        <p:spPr>
          <a:xfrm>
            <a:off x="1728949" y="7296003"/>
            <a:ext cx="8319617" cy="187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57200">
              <a:spcBef>
                <a:spcPts val="0"/>
              </a:spcBef>
              <a:defRPr sz="1200">
                <a:solidFill>
                  <a:srgbClr val="CEE397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BFD4E1"/>
                </a:solidFill>
              </a:rPr>
              <a:t>scoring </a:t>
            </a:r>
            <a:r>
              <a:rPr>
                <a:solidFill>
                  <a:srgbClr val="D4D4D4"/>
                </a:solidFill>
              </a:rPr>
              <a:t>=</a:t>
            </a:r>
            <a:r>
              <a:rPr>
                <a:solidFill>
                  <a:srgbClr val="BFD4E1"/>
                </a:solidFill>
              </a:rPr>
              <a:t> [</a:t>
            </a:r>
            <a:r>
              <a:t>'accuracy'</a:t>
            </a:r>
            <a:r>
              <a:rPr>
                <a:solidFill>
                  <a:srgbClr val="BFD4E1"/>
                </a:solidFill>
              </a:rPr>
              <a:t>, </a:t>
            </a:r>
            <a:r>
              <a:t>'precision'</a:t>
            </a:r>
            <a:r>
              <a:rPr>
                <a:solidFill>
                  <a:srgbClr val="BFD4E1"/>
                </a:solidFill>
              </a:rPr>
              <a:t>, </a:t>
            </a:r>
            <a:r>
              <a:t>'recall'</a:t>
            </a:r>
            <a:r>
              <a:rPr>
                <a:solidFill>
                  <a:srgbClr val="BFD4E1"/>
                </a:solidFill>
              </a:rPr>
              <a:t>, </a:t>
            </a:r>
            <a:r>
              <a:t>'f1'</a:t>
            </a:r>
            <a:r>
              <a:rPr>
                <a:solidFill>
                  <a:srgbClr val="BFD4E1"/>
                </a:solidFill>
              </a:rPr>
              <a:t>]</a:t>
            </a:r>
            <a:endParaRPr>
              <a:solidFill>
                <a:srgbClr val="BFD4E1"/>
              </a:solidFill>
            </a:endParaRPr>
          </a:p>
          <a:p>
            <a:pPr defTabSz="457200">
              <a:spcBef>
                <a:spcPts val="0"/>
              </a:spcBef>
              <a:defRPr sz="1200">
                <a:solidFill>
                  <a:srgbClr val="BFD4E1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defTabSz="457200">
              <a:spcBef>
                <a:spcPts val="0"/>
              </a:spcBef>
              <a:defRPr sz="1200">
                <a:solidFill>
                  <a:srgbClr val="BFD4E1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cv_results </a:t>
            </a:r>
            <a:r>
              <a:rPr>
                <a:solidFill>
                  <a:srgbClr val="D4D4D4"/>
                </a:solidFill>
              </a:rPr>
              <a:t>=</a:t>
            </a:r>
            <a:r>
              <a:t> cross_validate(</a:t>
            </a:r>
          </a:p>
          <a:p>
            <a:pPr defTabSz="457200">
              <a:spcBef>
                <a:spcPts val="0"/>
              </a:spcBef>
              <a:defRPr sz="1200">
                <a:solidFill>
                  <a:srgbClr val="BFD4E1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clf, </a:t>
            </a:r>
          </a:p>
          <a:p>
            <a:pPr defTabSz="457200">
              <a:spcBef>
                <a:spcPts val="0"/>
              </a:spcBef>
              <a:defRPr sz="1200">
                <a:solidFill>
                  <a:srgbClr val="BFD4E1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X, y, </a:t>
            </a:r>
          </a:p>
          <a:p>
            <a:pPr defTabSz="457200">
              <a:spcBef>
                <a:spcPts val="0"/>
              </a:spcBef>
              <a:defRPr sz="1200">
                <a:solidFill>
                  <a:srgbClr val="BFD4E1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</a:t>
            </a:r>
            <a:r>
              <a:rPr>
                <a:solidFill>
                  <a:srgbClr val="63B0C6"/>
                </a:solidFill>
              </a:rPr>
              <a:t>cv</a:t>
            </a:r>
            <a:r>
              <a:rPr>
                <a:solidFill>
                  <a:srgbClr val="D4D4D4"/>
                </a:solidFill>
              </a:rPr>
              <a:t>=</a:t>
            </a:r>
            <a:r>
              <a:rPr>
                <a:solidFill>
                  <a:srgbClr val="B5CEA8"/>
                </a:solidFill>
              </a:rPr>
              <a:t>5</a:t>
            </a:r>
            <a:r>
              <a:t>,</a:t>
            </a:r>
          </a:p>
          <a:p>
            <a:pPr defTabSz="457200">
              <a:spcBef>
                <a:spcPts val="0"/>
              </a:spcBef>
              <a:defRPr sz="1200">
                <a:solidFill>
                  <a:srgbClr val="BFD4E1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</a:t>
            </a:r>
            <a:r>
              <a:rPr>
                <a:solidFill>
                  <a:srgbClr val="63B0C6"/>
                </a:solidFill>
              </a:rPr>
              <a:t>scoring</a:t>
            </a:r>
            <a:r>
              <a:rPr>
                <a:solidFill>
                  <a:srgbClr val="D4D4D4"/>
                </a:solidFill>
              </a:rPr>
              <a:t>=</a:t>
            </a:r>
            <a:r>
              <a:t>scoring,</a:t>
            </a:r>
          </a:p>
          <a:p>
            <a:pPr defTabSz="457200">
              <a:spcBef>
                <a:spcPts val="0"/>
              </a:spcBef>
              <a:defRPr sz="1200">
                <a:solidFill>
                  <a:srgbClr val="63B0C6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BFD4E1"/>
                </a:solidFill>
              </a:rPr>
              <a:t>    </a:t>
            </a:r>
            <a:r>
              <a:t>return_train_score</a:t>
            </a:r>
            <a:r>
              <a:rPr>
                <a:solidFill>
                  <a:srgbClr val="D4D4D4"/>
                </a:solidFill>
              </a:rPr>
              <a:t>=</a:t>
            </a:r>
            <a:r>
              <a:rPr>
                <a:solidFill>
                  <a:srgbClr val="E9CA5C"/>
                </a:solidFill>
              </a:rPr>
              <a:t>True</a:t>
            </a:r>
            <a:endParaRPr>
              <a:solidFill>
                <a:srgbClr val="BFD4E1"/>
              </a:solidFill>
            </a:endParaRPr>
          </a:p>
          <a:p>
            <a:pPr defTabSz="457200">
              <a:spcBef>
                <a:spcPts val="0"/>
              </a:spcBef>
              <a:defRPr sz="1200">
                <a:solidFill>
                  <a:srgbClr val="BFD4E1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)</a:t>
            </a:r>
          </a:p>
        </p:txBody>
      </p:sp>
      <p:sp>
        <p:nvSpPr>
          <p:cNvPr id="285" name="Mean Accuracy: 67% (wahre Performance)…"/>
          <p:cNvSpPr txBox="1"/>
          <p:nvPr/>
        </p:nvSpPr>
        <p:spPr>
          <a:xfrm>
            <a:off x="1045386" y="2846626"/>
            <a:ext cx="11818380" cy="3454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lvl="1" marL="966258" indent="-407458">
              <a:buClr>
                <a:schemeClr val="accent3">
                  <a:hueOff val="-385756"/>
                  <a:satOff val="-32155"/>
                  <a:lumOff val="17967"/>
                </a:schemeClr>
              </a:buClr>
              <a:buSzPct val="100000"/>
              <a:buChar char="•"/>
              <a:defRPr sz="3500">
                <a:solidFill>
                  <a:srgbClr val="5E5E5E"/>
                </a:solidFill>
              </a:defRPr>
            </a:pPr>
            <a:r>
              <a:t>Mean Accuracy: </a:t>
            </a:r>
            <a:r>
              <a:rPr>
                <a:latin typeface="+mn-lt"/>
                <a:ea typeface="+mn-ea"/>
                <a:cs typeface="+mn-cs"/>
                <a:sym typeface="Avenir Next Demi Bold"/>
              </a:rPr>
              <a:t>67% (wahre Performance)</a:t>
            </a:r>
            <a:endParaRPr>
              <a:latin typeface="+mn-lt"/>
              <a:ea typeface="+mn-ea"/>
              <a:cs typeface="+mn-cs"/>
              <a:sym typeface="Avenir Next Demi Bold"/>
            </a:endParaRPr>
          </a:p>
          <a:p>
            <a:pPr lvl="1" marL="966258" indent="-407458">
              <a:buClr>
                <a:schemeClr val="accent3">
                  <a:hueOff val="-385756"/>
                  <a:satOff val="-32155"/>
                  <a:lumOff val="17967"/>
                </a:schemeClr>
              </a:buClr>
              <a:buSzPct val="100000"/>
              <a:buChar char="•"/>
              <a:defRPr sz="3500">
                <a:solidFill>
                  <a:srgbClr val="5E5E5E"/>
                </a:solidFill>
              </a:defRPr>
            </a:pPr>
            <a:r>
              <a:t>Hohe Varianz: 50-75% je nach Feld </a:t>
            </a:r>
          </a:p>
          <a:p>
            <a:pPr lvl="1" marL="966258" indent="-407458">
              <a:buClr>
                <a:schemeClr val="accent3">
                  <a:hueOff val="-385756"/>
                  <a:satOff val="-32155"/>
                  <a:lumOff val="17967"/>
                </a:schemeClr>
              </a:buClr>
              <a:buSzPct val="100000"/>
              <a:buChar char="•"/>
              <a:defRPr sz="3500">
                <a:solidFill>
                  <a:srgbClr val="5E5E5E"/>
                </a:solidFill>
              </a:defRPr>
            </a:pPr>
            <a:r>
              <a:t>Fold 5 Kritisch: Münzzwurf Niveau </a:t>
            </a:r>
          </a:p>
          <a:p>
            <a:pPr lvl="1" marL="966258" indent="-407458">
              <a:buClr>
                <a:schemeClr val="accent3">
                  <a:hueOff val="-385756"/>
                  <a:satOff val="-32155"/>
                  <a:lumOff val="17967"/>
                </a:schemeClr>
              </a:buClr>
              <a:buSzPct val="100000"/>
              <a:buChar char="•"/>
              <a:defRPr sz="3500">
                <a:solidFill>
                  <a:srgbClr val="5E5E5E"/>
                </a:solidFill>
              </a:defRPr>
            </a:pPr>
            <a:r>
              <a:t>AUC Trotzdem bei 0.95 ??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Machine Learning - Diskrepanz Erklärung Validation"/>
          <p:cNvSpPr txBox="1"/>
          <p:nvPr>
            <p:ph type="title"/>
          </p:nvPr>
        </p:nvSpPr>
        <p:spPr>
          <a:xfrm>
            <a:off x="1391910" y="1672305"/>
            <a:ext cx="12460555" cy="977737"/>
          </a:xfrm>
          <a:prstGeom prst="rect">
            <a:avLst/>
          </a:prstGeom>
        </p:spPr>
        <p:txBody>
          <a:bodyPr/>
          <a:lstStyle>
            <a:lvl1pPr defTabSz="330200">
              <a:defRPr spc="-160" sz="5360">
                <a:gradFill flip="none" rotWithShape="1">
                  <a:gsLst>
                    <a:gs pos="0">
                      <a:srgbClr val="000000"/>
                    </a:gs>
                    <a:gs pos="100000">
                      <a:srgbClr val="929292"/>
                    </a:gs>
                  </a:gsLst>
                  <a:lin ang="3960000" scaled="0"/>
                </a:gradFill>
              </a:defRPr>
            </a:lvl1pPr>
          </a:lstStyle>
          <a:p>
            <a:pPr/>
            <a:r>
              <a:t>Machine Learning - Diskrepanz Erklärung Validation  </a:t>
            </a:r>
          </a:p>
        </p:txBody>
      </p:sp>
      <p:sp>
        <p:nvSpPr>
          <p:cNvPr id="288" name="80% vs 67%  ??"/>
          <p:cNvSpPr txBox="1"/>
          <p:nvPr/>
        </p:nvSpPr>
        <p:spPr>
          <a:xfrm>
            <a:off x="1453624" y="3186614"/>
            <a:ext cx="6267265" cy="694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>
            <a:normAutofit fontScale="100000" lnSpcReduction="0"/>
          </a:bodyPr>
          <a:lstStyle>
            <a:lvl1pPr algn="ctr" defTabSz="330200">
              <a:lnSpc>
                <a:spcPct val="90000"/>
              </a:lnSpc>
              <a:spcBef>
                <a:spcPts val="0"/>
              </a:spcBef>
              <a:defRPr spc="-123" sz="4120">
                <a:gradFill flip="none" rotWithShape="1">
                  <a:gsLst>
                    <a:gs pos="0">
                      <a:srgbClr val="000000"/>
                    </a:gs>
                    <a:gs pos="100000">
                      <a:srgbClr val="929292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Avenir Next Demi Bold"/>
              </a:defRPr>
            </a:lvl1pPr>
          </a:lstStyle>
          <a:p>
            <a:pPr/>
            <a:r>
              <a:t>80% vs 67%  ??</a:t>
            </a:r>
          </a:p>
        </p:txBody>
      </p:sp>
      <p:sp>
        <p:nvSpPr>
          <p:cNvPr id="289" name="Einzelner Split: zufällig gute Test-Bilder…"/>
          <p:cNvSpPr txBox="1"/>
          <p:nvPr/>
        </p:nvSpPr>
        <p:spPr>
          <a:xfrm>
            <a:off x="1975699" y="4659588"/>
            <a:ext cx="11818381" cy="162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lvl="1" marL="966258" indent="-407458">
              <a:buClr>
                <a:schemeClr val="accent3">
                  <a:hueOff val="-385756"/>
                  <a:satOff val="-32155"/>
                  <a:lumOff val="17967"/>
                </a:schemeClr>
              </a:buClr>
              <a:buSzPct val="100000"/>
              <a:buChar char="•"/>
              <a:defRPr sz="3500">
                <a:solidFill>
                  <a:srgbClr val="5E5E5E"/>
                </a:solidFill>
              </a:defRPr>
            </a:pPr>
            <a:r>
              <a:t>Einzelner Split: zufällig gute Test-Bilder </a:t>
            </a:r>
          </a:p>
          <a:p>
            <a:pPr lvl="1" marL="966258" indent="-407458">
              <a:buClr>
                <a:schemeClr val="accent3">
                  <a:hueOff val="-385756"/>
                  <a:satOff val="-32155"/>
                  <a:lumOff val="17967"/>
                </a:schemeClr>
              </a:buClr>
              <a:buSzPct val="100000"/>
              <a:buChar char="•"/>
              <a:defRPr sz="3500">
                <a:solidFill>
                  <a:srgbClr val="5E5E5E"/>
                </a:solidFill>
              </a:defRPr>
            </a:pPr>
            <a:r>
              <a:t>CV: Durchschnitt über alle Splits (realistischer) </a:t>
            </a:r>
          </a:p>
        </p:txBody>
      </p:sp>
      <p:sp>
        <p:nvSpPr>
          <p:cNvPr id="290" name="Gleiche AUC trotz 67% ?"/>
          <p:cNvSpPr txBox="1"/>
          <p:nvPr/>
        </p:nvSpPr>
        <p:spPr>
          <a:xfrm>
            <a:off x="2282440" y="7064107"/>
            <a:ext cx="6718905" cy="694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>
            <a:normAutofit fontScale="100000" lnSpcReduction="0"/>
          </a:bodyPr>
          <a:lstStyle>
            <a:lvl1pPr algn="ctr" defTabSz="330200">
              <a:lnSpc>
                <a:spcPct val="90000"/>
              </a:lnSpc>
              <a:spcBef>
                <a:spcPts val="0"/>
              </a:spcBef>
              <a:defRPr spc="-118" sz="3960">
                <a:gradFill flip="none" rotWithShape="1">
                  <a:gsLst>
                    <a:gs pos="0">
                      <a:srgbClr val="000000"/>
                    </a:gs>
                    <a:gs pos="100000">
                      <a:srgbClr val="929292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Avenir Next Demi Bold"/>
              </a:defRPr>
            </a:lvl1pPr>
          </a:lstStyle>
          <a:p>
            <a:pPr/>
            <a:r>
              <a:t>Gleiche AUC trotz 67% ?</a:t>
            </a:r>
          </a:p>
        </p:txBody>
      </p:sp>
      <p:sp>
        <p:nvSpPr>
          <p:cNvPr id="291" name="Das Model kann Klasse Trennen (sogar sehr gut: 0.95)…"/>
          <p:cNvSpPr txBox="1"/>
          <p:nvPr/>
        </p:nvSpPr>
        <p:spPr>
          <a:xfrm>
            <a:off x="1876209" y="8905381"/>
            <a:ext cx="13169733" cy="2540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lvl="1" marL="966258" indent="-407458">
              <a:buClr>
                <a:schemeClr val="accent3">
                  <a:hueOff val="-385756"/>
                  <a:satOff val="-32155"/>
                  <a:lumOff val="17967"/>
                </a:schemeClr>
              </a:buClr>
              <a:buSzPct val="100000"/>
              <a:buChar char="•"/>
              <a:defRPr sz="3500">
                <a:solidFill>
                  <a:srgbClr val="5E5E5E"/>
                </a:solidFill>
              </a:defRPr>
            </a:pPr>
            <a:r>
              <a:t>Das Model kann Klasse Trennen (sogar sehr gut: 0.95) </a:t>
            </a:r>
          </a:p>
          <a:p>
            <a:pPr lvl="1" marL="966258" indent="-407458">
              <a:buClr>
                <a:schemeClr val="accent3">
                  <a:hueOff val="-385756"/>
                  <a:satOff val="-32155"/>
                  <a:lumOff val="17967"/>
                </a:schemeClr>
              </a:buClr>
              <a:buSzPct val="100000"/>
              <a:buChar char="•"/>
              <a:defRPr sz="3500">
                <a:solidFill>
                  <a:srgbClr val="5E5E5E"/>
                </a:solidFill>
              </a:defRPr>
            </a:pPr>
            <a:r>
              <a:t>Wie oft bei festem Threshold ??? 67%</a:t>
            </a:r>
          </a:p>
          <a:p>
            <a:pPr lvl="2" marL="1525058" indent="-407458">
              <a:buClr>
                <a:schemeClr val="accent3">
                  <a:hueOff val="-385756"/>
                  <a:satOff val="-32155"/>
                  <a:lumOff val="17967"/>
                </a:schemeClr>
              </a:buClr>
              <a:buSzPct val="100000"/>
              <a:buChar char="•"/>
              <a:defRPr sz="3500">
                <a:solidFill>
                  <a:srgbClr val="5E5E5E"/>
                </a:solidFill>
              </a:defRPr>
            </a:pPr>
            <a:r>
              <a:t>Ansatz funktioniert, aber instabil bei so wenig Daten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Limitation und Verbesserungsvorschläge"/>
          <p:cNvSpPr txBox="1"/>
          <p:nvPr>
            <p:ph type="title"/>
          </p:nvPr>
        </p:nvSpPr>
        <p:spPr>
          <a:xfrm>
            <a:off x="1032841" y="1672305"/>
            <a:ext cx="12460555" cy="977737"/>
          </a:xfrm>
          <a:prstGeom prst="rect">
            <a:avLst/>
          </a:prstGeom>
        </p:spPr>
        <p:txBody>
          <a:bodyPr/>
          <a:lstStyle>
            <a:lvl1pPr defTabSz="330200">
              <a:defRPr spc="-160" sz="5360">
                <a:gradFill flip="none" rotWithShape="1">
                  <a:gsLst>
                    <a:gs pos="0">
                      <a:srgbClr val="000000"/>
                    </a:gs>
                    <a:gs pos="100000">
                      <a:srgbClr val="929292"/>
                    </a:gs>
                  </a:gsLst>
                  <a:lin ang="3960000" scaled="0"/>
                </a:gradFill>
              </a:defRPr>
            </a:lvl1pPr>
          </a:lstStyle>
          <a:p>
            <a:pPr/>
            <a:r>
              <a:t>Limitation und Verbesserungsvorschläge</a:t>
            </a:r>
          </a:p>
        </p:txBody>
      </p:sp>
      <p:sp>
        <p:nvSpPr>
          <p:cNvPr id="294" name="Limitation"/>
          <p:cNvSpPr txBox="1"/>
          <p:nvPr/>
        </p:nvSpPr>
        <p:spPr>
          <a:xfrm>
            <a:off x="1453624" y="3186614"/>
            <a:ext cx="2990448" cy="694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>
            <a:normAutofit fontScale="100000" lnSpcReduction="0"/>
          </a:bodyPr>
          <a:lstStyle>
            <a:lvl1pPr algn="ctr" defTabSz="330200">
              <a:lnSpc>
                <a:spcPct val="90000"/>
              </a:lnSpc>
              <a:spcBef>
                <a:spcPts val="0"/>
              </a:spcBef>
              <a:defRPr spc="-129" sz="4320">
                <a:gradFill flip="none" rotWithShape="1">
                  <a:gsLst>
                    <a:gs pos="0">
                      <a:srgbClr val="000000"/>
                    </a:gs>
                    <a:gs pos="100000">
                      <a:srgbClr val="929292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Avenir Next Demi Bold"/>
              </a:defRPr>
            </a:lvl1pPr>
          </a:lstStyle>
          <a:p>
            <a:pPr/>
            <a:r>
              <a:t>Limitation</a:t>
            </a:r>
          </a:p>
        </p:txBody>
      </p:sp>
      <p:sp>
        <p:nvSpPr>
          <p:cNvPr id="295" name="Kleine Datenmenge (100 Bilder)…"/>
          <p:cNvSpPr txBox="1"/>
          <p:nvPr/>
        </p:nvSpPr>
        <p:spPr>
          <a:xfrm>
            <a:off x="1730880" y="4442592"/>
            <a:ext cx="11818380" cy="802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lvl="1" marL="966258" indent="-407458">
              <a:buClr>
                <a:schemeClr val="accent5"/>
              </a:buClr>
              <a:buSzPct val="100000"/>
              <a:buChar char="•"/>
              <a:defRPr sz="3500">
                <a:solidFill>
                  <a:srgbClr val="5E5E5E"/>
                </a:solidFill>
              </a:defRPr>
            </a:pPr>
            <a:r>
              <a:t>Kleine Datenmenge (100 Bilder) </a:t>
            </a:r>
          </a:p>
          <a:p>
            <a:pPr lvl="2" marL="1525058" indent="-407458">
              <a:buClr>
                <a:schemeClr val="accent5"/>
              </a:buClr>
              <a:buSzPct val="100000"/>
              <a:buChar char="-"/>
              <a:defRPr sz="3500">
                <a:solidFill>
                  <a:srgbClr val="5E5E5E"/>
                </a:solidFill>
              </a:defRPr>
            </a:pPr>
            <a:r>
              <a:t>Hohe Instabilität (Fold 5)</a:t>
            </a:r>
          </a:p>
          <a:p>
            <a:pPr lvl="2" marL="1525058" indent="-407458">
              <a:buClr>
                <a:schemeClr val="accent5"/>
              </a:buClr>
              <a:buSzPct val="100000"/>
              <a:buChar char="-"/>
              <a:defRPr sz="3500">
                <a:solidFill>
                  <a:srgbClr val="5E5E5E"/>
                </a:solidFill>
              </a:defRPr>
            </a:pPr>
            <a:r>
              <a:t>Overfitting Gefahr </a:t>
            </a:r>
          </a:p>
          <a:p>
            <a:pPr lvl="1" marL="966258" indent="-407458">
              <a:buClr>
                <a:schemeClr val="accent5"/>
              </a:buClr>
              <a:buSzPct val="100000"/>
              <a:buChar char="•"/>
              <a:defRPr sz="3500">
                <a:solidFill>
                  <a:srgbClr val="5E5E5E"/>
                </a:solidFill>
              </a:defRPr>
            </a:pPr>
            <a:r>
              <a:t>Niedriger Tumur-Recall</a:t>
            </a:r>
          </a:p>
          <a:p>
            <a:pPr lvl="2" marL="1525058" indent="-407458">
              <a:buClr>
                <a:schemeClr val="accent5"/>
              </a:buClr>
              <a:buSzPct val="100000"/>
              <a:buChar char="-"/>
              <a:defRPr sz="3500">
                <a:solidFill>
                  <a:srgbClr val="5E5E5E"/>
                </a:solidFill>
              </a:defRPr>
            </a:pPr>
            <a:r>
              <a:t>Test-set 70% und 54% CV</a:t>
            </a:r>
          </a:p>
          <a:p>
            <a:pPr lvl="2" marL="1525058" indent="-407458">
              <a:buClr>
                <a:schemeClr val="accent5"/>
              </a:buClr>
              <a:buSzPct val="100000"/>
              <a:buChar char="-"/>
              <a:defRPr sz="3500">
                <a:solidFill>
                  <a:srgbClr val="5E5E5E"/>
                </a:solidFill>
              </a:defRPr>
            </a:pPr>
            <a:r>
              <a:t>Nicht Akzeptable in Medizin Kontext </a:t>
            </a:r>
          </a:p>
          <a:p>
            <a:pPr lvl="1" marL="966258" indent="-407458">
              <a:buClr>
                <a:schemeClr val="accent5"/>
              </a:buClr>
              <a:buSzPct val="100000"/>
              <a:buChar char="•"/>
              <a:defRPr sz="3500">
                <a:solidFill>
                  <a:srgbClr val="5E5E5E"/>
                </a:solidFill>
              </a:defRPr>
            </a:pPr>
            <a:r>
              <a:t>Feature Überlappung</a:t>
            </a:r>
          </a:p>
          <a:p>
            <a:pPr lvl="2" marL="1525058" indent="-407458">
              <a:buClr>
                <a:schemeClr val="accent5"/>
              </a:buClr>
              <a:buSzPct val="100000"/>
              <a:buChar char="-"/>
              <a:defRPr sz="3500">
                <a:solidFill>
                  <a:srgbClr val="5E5E5E"/>
                </a:solidFill>
              </a:defRPr>
            </a:pPr>
            <a:r>
              <a:t>Starke Überlappung Tumor/Normal </a:t>
            </a:r>
          </a:p>
          <a:p>
            <a:pPr lvl="2" marL="1525058" indent="-407458">
              <a:buClr>
                <a:schemeClr val="accent5"/>
              </a:buClr>
              <a:buSzPct val="100000"/>
              <a:buChar char="-"/>
              <a:defRPr sz="3500">
                <a:solidFill>
                  <a:srgbClr val="5E5E5E"/>
                </a:solidFill>
              </a:defRPr>
            </a:pPr>
            <a:r>
              <a:t>Schwierige Trennung </a:t>
            </a:r>
          </a:p>
        </p:txBody>
      </p:sp>
      <p:sp>
        <p:nvSpPr>
          <p:cNvPr id="296" name="Vorschläge"/>
          <p:cNvSpPr txBox="1"/>
          <p:nvPr/>
        </p:nvSpPr>
        <p:spPr>
          <a:xfrm>
            <a:off x="13739982" y="2938080"/>
            <a:ext cx="6718905" cy="8810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>
            <a:normAutofit fontScale="100000" lnSpcReduction="0"/>
          </a:bodyPr>
          <a:lstStyle>
            <a:lvl1pPr algn="ctr" defTabSz="338454">
              <a:lnSpc>
                <a:spcPct val="90000"/>
              </a:lnSpc>
              <a:spcBef>
                <a:spcPts val="0"/>
              </a:spcBef>
              <a:defRPr spc="-132" sz="4428">
                <a:gradFill flip="none" rotWithShape="1">
                  <a:gsLst>
                    <a:gs pos="0">
                      <a:srgbClr val="000000"/>
                    </a:gs>
                    <a:gs pos="100000">
                      <a:srgbClr val="929292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Avenir Next Demi Bold"/>
              </a:defRPr>
            </a:lvl1pPr>
          </a:lstStyle>
          <a:p>
            <a:pPr/>
            <a:r>
              <a:t>Vorschläge </a:t>
            </a:r>
          </a:p>
        </p:txBody>
      </p:sp>
      <p:sp>
        <p:nvSpPr>
          <p:cNvPr id="297" name="Mehr Daten…"/>
          <p:cNvSpPr txBox="1"/>
          <p:nvPr/>
        </p:nvSpPr>
        <p:spPr>
          <a:xfrm>
            <a:off x="13511277" y="4151075"/>
            <a:ext cx="11818381" cy="6197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lvl="1" marL="966258" indent="-407458">
              <a:buClr>
                <a:schemeClr val="accent3">
                  <a:hueOff val="-385756"/>
                  <a:satOff val="-32155"/>
                  <a:lumOff val="17967"/>
                </a:schemeClr>
              </a:buClr>
              <a:buSzPct val="100000"/>
              <a:buChar char="•"/>
              <a:defRPr sz="3500">
                <a:solidFill>
                  <a:srgbClr val="5E5E5E"/>
                </a:solidFill>
              </a:defRPr>
            </a:pPr>
            <a:r>
              <a:t>Mehr Daten</a:t>
            </a:r>
          </a:p>
          <a:p>
            <a:pPr lvl="2" marL="1571625" indent="-454025">
              <a:buClr>
                <a:schemeClr val="accent3">
                  <a:hueOff val="-385756"/>
                  <a:satOff val="-32155"/>
                  <a:lumOff val="17967"/>
                </a:schemeClr>
              </a:buClr>
              <a:buSzPct val="100000"/>
              <a:buChar char="-"/>
              <a:defRPr sz="3500">
                <a:solidFill>
                  <a:srgbClr val="5E5E5E"/>
                </a:solidFill>
              </a:defRPr>
            </a:pPr>
            <a:r>
              <a:t>Empfohlen minimum 500 bis 1000 Bilder</a:t>
            </a:r>
          </a:p>
          <a:p>
            <a:pPr lvl="2" marL="1571625" indent="-454025">
              <a:buClr>
                <a:schemeClr val="accent3">
                  <a:hueOff val="-385756"/>
                  <a:satOff val="-32155"/>
                  <a:lumOff val="17967"/>
                </a:schemeClr>
              </a:buClr>
              <a:buSzPct val="100000"/>
              <a:buChar char="-"/>
              <a:defRPr sz="3500">
                <a:solidFill>
                  <a:srgbClr val="5E5E5E"/>
                </a:solidFill>
              </a:defRPr>
            </a:pPr>
            <a:r>
              <a:t>Data Augmentation (Rotation, Flip)</a:t>
            </a:r>
          </a:p>
          <a:p>
            <a:pPr lvl="1" marL="966258" indent="-407458">
              <a:buClr>
                <a:schemeClr val="accent3">
                  <a:hueOff val="-385756"/>
                  <a:satOff val="-32155"/>
                  <a:lumOff val="17967"/>
                </a:schemeClr>
              </a:buClr>
              <a:buSzPct val="100000"/>
              <a:buChar char="•"/>
              <a:defRPr sz="3500">
                <a:solidFill>
                  <a:srgbClr val="5E5E5E"/>
                </a:solidFill>
              </a:defRPr>
            </a:pPr>
            <a:r>
              <a:t>Bessere Features</a:t>
            </a:r>
          </a:p>
          <a:p>
            <a:pPr lvl="2" marL="1571625" indent="-454025">
              <a:buClr>
                <a:schemeClr val="accent3">
                  <a:hueOff val="-385756"/>
                  <a:satOff val="-32155"/>
                  <a:lumOff val="17967"/>
                </a:schemeClr>
              </a:buClr>
              <a:buSzPct val="100000"/>
              <a:buChar char="-"/>
              <a:defRPr sz="3500">
                <a:solidFill>
                  <a:srgbClr val="5E5E5E"/>
                </a:solidFill>
              </a:defRPr>
            </a:pPr>
            <a:r>
              <a:t>GLCM, LBP, Wavalet </a:t>
            </a:r>
          </a:p>
          <a:p>
            <a:pPr lvl="1" marL="966258" indent="-407458">
              <a:buClr>
                <a:schemeClr val="accent3">
                  <a:hueOff val="-385756"/>
                  <a:satOff val="-32155"/>
                  <a:lumOff val="17967"/>
                </a:schemeClr>
              </a:buClr>
              <a:buSzPct val="100000"/>
              <a:buChar char="•"/>
              <a:defRPr sz="3500">
                <a:solidFill>
                  <a:srgbClr val="5E5E5E"/>
                </a:solidFill>
              </a:defRPr>
            </a:pPr>
            <a:r>
              <a:t>Bessere Algorithmen (+ 15-25%)</a:t>
            </a:r>
          </a:p>
          <a:p>
            <a:pPr lvl="2" marL="1571625" indent="-454025">
              <a:buClr>
                <a:schemeClr val="accent3">
                  <a:hueOff val="-385756"/>
                  <a:satOff val="-32155"/>
                  <a:lumOff val="17967"/>
                </a:schemeClr>
              </a:buClr>
              <a:buSzPct val="100000"/>
              <a:buChar char="-"/>
              <a:defRPr sz="3500">
                <a:solidFill>
                  <a:srgbClr val="5E5E5E"/>
                </a:solidFill>
              </a:defRPr>
            </a:pPr>
            <a:r>
              <a:t>Deep Learning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Zusammenfassung"/>
          <p:cNvSpPr txBox="1"/>
          <p:nvPr>
            <p:ph type="title"/>
          </p:nvPr>
        </p:nvSpPr>
        <p:spPr>
          <a:xfrm>
            <a:off x="1032841" y="1672305"/>
            <a:ext cx="6099526" cy="977737"/>
          </a:xfrm>
          <a:prstGeom prst="rect">
            <a:avLst/>
          </a:prstGeom>
        </p:spPr>
        <p:txBody>
          <a:bodyPr/>
          <a:lstStyle>
            <a:lvl1pPr defTabSz="330200">
              <a:defRPr spc="-160" sz="5360">
                <a:gradFill flip="none" rotWithShape="1">
                  <a:gsLst>
                    <a:gs pos="0">
                      <a:srgbClr val="000000"/>
                    </a:gs>
                    <a:gs pos="100000">
                      <a:srgbClr val="929292"/>
                    </a:gs>
                  </a:gsLst>
                  <a:lin ang="3960000" scaled="0"/>
                </a:gradFill>
              </a:defRPr>
            </a:lvl1pPr>
          </a:lstStyle>
          <a:p>
            <a:pPr/>
            <a:r>
              <a:t>Zusammenfassung </a:t>
            </a:r>
          </a:p>
        </p:txBody>
      </p:sp>
      <p:sp>
        <p:nvSpPr>
          <p:cNvPr id="300" name="Vollständige ML-Pipline implementiert…"/>
          <p:cNvSpPr txBox="1"/>
          <p:nvPr/>
        </p:nvSpPr>
        <p:spPr>
          <a:xfrm>
            <a:off x="2024663" y="3622369"/>
            <a:ext cx="16064910" cy="711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lvl="1" marL="966258" indent="-407458">
              <a:buClr>
                <a:schemeClr val="accent3">
                  <a:hueOff val="-385756"/>
                  <a:satOff val="-32155"/>
                  <a:lumOff val="17967"/>
                </a:schemeClr>
              </a:buClr>
              <a:buSzPct val="100000"/>
              <a:buChar char="•"/>
              <a:defRPr sz="3500">
                <a:solidFill>
                  <a:srgbClr val="5E5E5E"/>
                </a:solidFill>
              </a:defRPr>
            </a:pPr>
            <a:r>
              <a:t>Vollständige ML-Pipline implementiert </a:t>
            </a:r>
          </a:p>
          <a:p>
            <a:pPr lvl="1" marL="966258" indent="-407458">
              <a:buClr>
                <a:schemeClr val="accent3">
                  <a:hueOff val="-385756"/>
                  <a:satOff val="-32155"/>
                  <a:lumOff val="17967"/>
                </a:schemeClr>
              </a:buClr>
              <a:buSzPct val="100000"/>
              <a:buChar char="•"/>
              <a:defRPr sz="3500">
                <a:solidFill>
                  <a:srgbClr val="5E5E5E"/>
                </a:solidFill>
              </a:defRPr>
            </a:pPr>
            <a:r>
              <a:t>Textur Features funktionieren sehr gut (AUC 0.950)</a:t>
            </a:r>
          </a:p>
          <a:p>
            <a:pPr lvl="1" marL="966258" indent="-407458">
              <a:buClr>
                <a:schemeClr val="accent3">
                  <a:hueOff val="-385756"/>
                  <a:satOff val="-32155"/>
                  <a:lumOff val="17967"/>
                </a:schemeClr>
              </a:buClr>
              <a:buSzPct val="100000"/>
              <a:buChar char="•"/>
              <a:defRPr sz="3500">
                <a:solidFill>
                  <a:srgbClr val="5E5E5E"/>
                </a:solidFill>
              </a:defRPr>
            </a:pPr>
            <a:r>
              <a:t>Bei meinem Test-split </a:t>
            </a:r>
          </a:p>
          <a:p>
            <a:pPr lvl="2" marL="1525058" indent="-407458">
              <a:buClr>
                <a:schemeClr val="accent3">
                  <a:hueOff val="-385756"/>
                  <a:satOff val="-32155"/>
                  <a:lumOff val="17967"/>
                </a:schemeClr>
              </a:buClr>
              <a:buSzPct val="100000"/>
              <a:buChar char="•"/>
              <a:defRPr sz="3500">
                <a:solidFill>
                  <a:srgbClr val="5E5E5E"/>
                </a:solidFill>
              </a:defRPr>
            </a:pPr>
            <a:r>
              <a:t>Accuracy: 80%</a:t>
            </a:r>
          </a:p>
          <a:p>
            <a:pPr lvl="1" marL="966258" indent="-407458">
              <a:buClr>
                <a:schemeClr val="accent3">
                  <a:hueOff val="-385756"/>
                  <a:satOff val="-32155"/>
                  <a:lumOff val="17967"/>
                </a:schemeClr>
              </a:buClr>
              <a:buSzPct val="100000"/>
              <a:buChar char="•"/>
              <a:defRPr sz="3500">
                <a:solidFill>
                  <a:srgbClr val="5E5E5E"/>
                </a:solidFill>
              </a:defRPr>
            </a:pPr>
            <a:r>
              <a:t>Limitation: Cross Validation mit einem Accuracy 67%</a:t>
            </a:r>
          </a:p>
          <a:p>
            <a:pPr lvl="1" marL="966258" indent="-407458">
              <a:buClr>
                <a:schemeClr val="accent3">
                  <a:hueOff val="-385756"/>
                  <a:satOff val="-32155"/>
                  <a:lumOff val="17967"/>
                </a:schemeClr>
              </a:buClr>
              <a:buSzPct val="100000"/>
              <a:buChar char="•"/>
              <a:defRPr sz="3500">
                <a:solidFill>
                  <a:srgbClr val="5E5E5E"/>
                </a:solidFill>
              </a:defRPr>
            </a:pPr>
            <a:r>
              <a:t>Ansatz hat Potential aber für klinische Anwendung: </a:t>
            </a:r>
          </a:p>
          <a:p>
            <a:pPr lvl="2" marL="1525058" indent="-407458">
              <a:buClr>
                <a:schemeClr val="accent3">
                  <a:hueOff val="-385756"/>
                  <a:satOff val="-32155"/>
                  <a:lumOff val="17967"/>
                </a:schemeClr>
              </a:buClr>
              <a:buSzPct val="100000"/>
              <a:buChar char="•"/>
              <a:defRPr sz="3500">
                <a:solidFill>
                  <a:srgbClr val="5E5E5E"/>
                </a:solidFill>
              </a:defRPr>
            </a:pPr>
            <a:r>
              <a:t>Mehr Trainingsdaten nötig </a:t>
            </a:r>
          </a:p>
          <a:p>
            <a:pPr lvl="2" marL="1525058" indent="-407458">
              <a:buClr>
                <a:schemeClr val="accent3">
                  <a:hueOff val="-385756"/>
                  <a:satOff val="-32155"/>
                  <a:lumOff val="17967"/>
                </a:schemeClr>
              </a:buClr>
              <a:buSzPct val="100000"/>
              <a:buChar char="•"/>
              <a:defRPr sz="3500">
                <a:solidFill>
                  <a:srgbClr val="5E5E5E"/>
                </a:solidFill>
              </a:defRPr>
            </a:pPr>
            <a:r>
              <a:t>Deep Learning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Fragen ? 🤔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Fragen ? 🤔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Quelle"/>
          <p:cNvSpPr txBox="1"/>
          <p:nvPr>
            <p:ph type="title" idx="4294967295"/>
          </p:nvPr>
        </p:nvSpPr>
        <p:spPr>
          <a:xfrm>
            <a:off x="1032841" y="1672305"/>
            <a:ext cx="2751622" cy="977737"/>
          </a:xfrm>
          <a:prstGeom prst="rect">
            <a:avLst/>
          </a:prstGeom>
        </p:spPr>
        <p:txBody>
          <a:bodyPr/>
          <a:lstStyle>
            <a:lvl1pPr defTabSz="330200">
              <a:lnSpc>
                <a:spcPct val="90000"/>
              </a:lnSpc>
              <a:defRPr spc="-160" sz="5360">
                <a:gradFill flip="none" rotWithShape="1">
                  <a:gsLst>
                    <a:gs pos="0">
                      <a:srgbClr val="000000"/>
                    </a:gs>
                    <a:gs pos="100000">
                      <a:srgbClr val="929292"/>
                    </a:gs>
                  </a:gsLst>
                  <a:lin ang="3960000" scaled="0"/>
                </a:gradFill>
              </a:defRPr>
            </a:lvl1pPr>
          </a:lstStyle>
          <a:p>
            <a:pPr/>
            <a:r>
              <a:t>Quelle </a:t>
            </a:r>
          </a:p>
        </p:txBody>
      </p:sp>
      <p:sp>
        <p:nvSpPr>
          <p:cNvPr id="305" name="scikit-image Documentation: https://scikit-image.org/…"/>
          <p:cNvSpPr txBox="1"/>
          <p:nvPr/>
        </p:nvSpPr>
        <p:spPr>
          <a:xfrm>
            <a:off x="1947358" y="3428132"/>
            <a:ext cx="12722353" cy="2616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457200" indent="-317500" defTabSz="457200">
              <a:spcBef>
                <a:spcPts val="0"/>
              </a:spcBef>
              <a:buClr>
                <a:srgbClr val="1F2328"/>
              </a:buClr>
              <a:buSzPct val="100000"/>
              <a:buFont typeface="TimesNewRomanPSMT"/>
              <a:buChar char="•"/>
              <a:defRPr sz="2400">
                <a:solidFill>
                  <a:srgbClr val="1F2328"/>
                </a:solidFill>
              </a:defRPr>
            </a:pPr>
            <a:r>
              <a:t>scikit-image Documentation: </a:t>
            </a:r>
            <a:r>
              <a:rPr u="sng">
                <a:solidFill>
                  <a:srgbClr val="0969DA"/>
                </a:solidFill>
                <a:hlinkClick r:id="rId2" invalidUrl="" action="" tgtFrame="" tooltip="" history="1" highlightClick="0" endSnd="0"/>
              </a:rPr>
              <a:t>https://scikit-image.org/</a:t>
            </a:r>
          </a:p>
          <a:p>
            <a:pPr marL="457200" indent="-317500" defTabSz="457200">
              <a:spcBef>
                <a:spcPts val="0"/>
              </a:spcBef>
              <a:buClr>
                <a:srgbClr val="1F2328"/>
              </a:buClr>
              <a:buSzPct val="100000"/>
              <a:buFont typeface="TimesNewRomanPSMT"/>
              <a:buChar char="•"/>
              <a:defRPr sz="2400">
                <a:solidFill>
                  <a:srgbClr val="1F2328"/>
                </a:solidFill>
              </a:defRPr>
            </a:pPr>
            <a:r>
              <a:t>Texture Analysis in Medical Imaging: Shannon Entropy</a:t>
            </a:r>
          </a:p>
          <a:p>
            <a:pPr marL="457200" indent="-317500" defTabSz="457200">
              <a:spcBef>
                <a:spcPts val="0"/>
              </a:spcBef>
              <a:buClr>
                <a:srgbClr val="1F2328"/>
              </a:buClr>
              <a:buSzPct val="100000"/>
              <a:buFont typeface="TimesNewRomanPSMT"/>
              <a:buChar char="•"/>
              <a:defRPr sz="2400">
                <a:solidFill>
                  <a:srgbClr val="1F2328"/>
                </a:solidFill>
              </a:defRPr>
            </a:pPr>
            <a:r>
              <a:t>scikit-learn Decision Trees: </a:t>
            </a:r>
            <a:r>
              <a:rPr u="sng">
                <a:solidFill>
                  <a:srgbClr val="0969DA"/>
                </a:solidFill>
                <a:hlinkClick r:id="rId3" invalidUrl="" action="" tgtFrame="" tooltip="" history="1" highlightClick="0" endSnd="0"/>
              </a:rPr>
              <a:t>https://scikit-learn.org/</a:t>
            </a:r>
          </a:p>
          <a:p>
            <a:pPr marL="457200" indent="-317500" defTabSz="457200">
              <a:spcBef>
                <a:spcPts val="0"/>
              </a:spcBef>
              <a:buClr>
                <a:srgbClr val="000000"/>
              </a:buClr>
              <a:buSzPct val="100000"/>
              <a:buFont typeface="TimesNewRomanPSMT"/>
              <a:buChar char="•"/>
              <a:defRPr sz="2400">
                <a:solidFill>
                  <a:srgbClr val="1F2328"/>
                </a:solidFill>
              </a:defRPr>
            </a:pPr>
            <a:r>
              <a:t>Alle Bilder : </a:t>
            </a:r>
            <a:r>
              <a:rPr u="sng">
                <a:solidFill>
                  <a:schemeClr val="accent1"/>
                </a:solidFill>
                <a:hlinkClick r:id="rId4" invalidUrl="" action="" tgtFrame="" tooltip="" history="1" highlightClick="0" endSnd="0"/>
              </a:rPr>
              <a:t>https://github.com/itsvocs/python-ml-histotexture/tree/main/results/figures</a:t>
            </a:r>
            <a:endParaRPr>
              <a:solidFill>
                <a:schemeClr val="accent1"/>
              </a:solidFill>
            </a:endParaRPr>
          </a:p>
          <a:p>
            <a:pPr marL="457200" indent="-317500" defTabSz="457200">
              <a:spcBef>
                <a:spcPts val="0"/>
              </a:spcBef>
              <a:buClr>
                <a:srgbClr val="000000"/>
              </a:buClr>
              <a:buSzPct val="100000"/>
              <a:buFont typeface="TimesNewRomanPSMT"/>
              <a:buChar char="•"/>
              <a:defRPr sz="2400">
                <a:solidFill>
                  <a:srgbClr val="1F2328"/>
                </a:solidFill>
              </a:defRPr>
            </a:pPr>
            <a:r>
              <a:t>Code und Repository: </a:t>
            </a:r>
            <a:r>
              <a:rPr u="sng">
                <a:solidFill>
                  <a:schemeClr val="accent1"/>
                </a:solidFill>
                <a:hlinkClick r:id="rId5" invalidUrl="" action="" tgtFrame="" tooltip="" history="1" highlightClick="0" endSnd="0"/>
              </a:rPr>
              <a:t>https://github.com/itsvocs/python-ml-histotexture</a:t>
            </a:r>
          </a:p>
          <a:p>
            <a:pPr marL="457200" indent="-317500" defTabSz="457200">
              <a:spcBef>
                <a:spcPts val="0"/>
              </a:spcBef>
              <a:buClr>
                <a:srgbClr val="000000"/>
              </a:buClr>
              <a:buSzPct val="100000"/>
              <a:buFont typeface="TimesNewRomanPSMT"/>
              <a:buChar char="•"/>
              <a:defRPr sz="2400">
                <a:solidFill>
                  <a:srgbClr val="1F2328"/>
                </a:solidFill>
              </a:defRPr>
            </a:pPr>
            <a:r>
              <a:t>https://cs231n.stanford.edu/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31_ColorGradientLight">
  <a:themeElements>
    <a:clrScheme name="31_ColorGradientLight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31_ColorGradientLight">
      <a:majorFont>
        <a:latin typeface="Avenir Next Demi Bold"/>
        <a:ea typeface="Avenir Next Demi Bold"/>
        <a:cs typeface="Avenir Next Demi Bold"/>
      </a:majorFont>
      <a:minorFont>
        <a:latin typeface="Avenir Next Demi Bold"/>
        <a:ea typeface="Avenir Next Demi Bold"/>
        <a:cs typeface="Avenir Next Demi Bold"/>
      </a:minorFont>
    </a:fontScheme>
    <a:fmtScheme name="31_ColorGradient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Avenir Next Medium"/>
            <a:ea typeface="Avenir Next Medium"/>
            <a:cs typeface="Avenir Next Medium"/>
            <a:sym typeface="Avenir Next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400" rtl="0" fontAlgn="auto" latinLnBrk="0" hangingPunct="0">
          <a:lnSpc>
            <a:spcPct val="10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venir Next Regular"/>
            <a:ea typeface="Avenir Next Regular"/>
            <a:cs typeface="Avenir Next Regular"/>
            <a:sym typeface="Avenir N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31_ColorGradientLight">
  <a:themeElements>
    <a:clrScheme name="31_ColorGradientLight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31_ColorGradientLight">
      <a:majorFont>
        <a:latin typeface="Avenir Next Demi Bold"/>
        <a:ea typeface="Avenir Next Demi Bold"/>
        <a:cs typeface="Avenir Next Demi Bold"/>
      </a:majorFont>
      <a:minorFont>
        <a:latin typeface="Avenir Next Demi Bold"/>
        <a:ea typeface="Avenir Next Demi Bold"/>
        <a:cs typeface="Avenir Next Demi Bold"/>
      </a:minorFont>
    </a:fontScheme>
    <a:fmtScheme name="31_ColorGradient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Avenir Next Medium"/>
            <a:ea typeface="Avenir Next Medium"/>
            <a:cs typeface="Avenir Next Medium"/>
            <a:sym typeface="Avenir Next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400" rtl="0" fontAlgn="auto" latinLnBrk="0" hangingPunct="0">
          <a:lnSpc>
            <a:spcPct val="10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venir Next Regular"/>
            <a:ea typeface="Avenir Next Regular"/>
            <a:cs typeface="Avenir Next Regular"/>
            <a:sym typeface="Avenir N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